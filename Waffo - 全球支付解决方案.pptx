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  <p:sldMasterId id="2147483660" r:id="rId2"/>
  </p:sldMasterIdLst>
  <p:notesMasterIdLst>
    <p:notesMasterId r:id="rId21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68"/>
  </p:normalViewPr>
  <p:slideViewPr>
    <p:cSldViewPr snapToGrid="0">
      <p:cViewPr varScale="1">
        <p:scale>
          <a:sx n="119" d="100"/>
          <a:sy n="119" d="100"/>
        </p:scale>
        <p:origin x="856" y="17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03.04.2026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大家好，欢迎参加今天的演示。今天我将向大家介绍Waffo，一个致力于为全球企业提供一站式支付解决方案的平台。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我们的核心优势在于通过单一API，即可触达全球超过162个地区，支持135+种货币以及480多种支付方式。这意味着您无需为不同国家的支付接入烦恼，一次集成，即可覆盖全球主流市场。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具体来说，我们支持电子钱包、银行转账、二维码以及BNPL（先买后付）等多种流行的支付方式，充分尊重当地用户的支付习惯，从而提升您的转化率。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无论您的业务在哪里，Waffo都能帮助您轻松实现全球收款，助力业务增长。谢谢大家。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，让我们概览一下Waffo的产品与解决方案。我们是一个专注于商户增长的全球货币化平台，提供支付、税务、订阅和合规的全方位服务。我们的产品体系主要分为两大部分：核心产品和行业解决方案。核心产品包括计费系统、支付处理和增长加速器。而行业解决方案则针对AI与SaaS、游戏以及在线应用等特定领域，提供定制化的支付策略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具体来看，我们的产品可以归纳为三大核心模块。首先是计费模块，涵盖了灵活的订阅管理和专业的发票系统。其次是支付模块，提供即时支付和高度可定制的结账体验。最后是增长模块，通过记录商户服务、成功率优化和欺诈保护，为您的业务增长保驾护航。这三大模块共同构成了Waffo强大而全面的产品矩阵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深入了解我们的订阅管理功能。Waffo为您提供无与伦比的灵活性，支持试用、按量计费、附加组件和灵活的计费周期，帮助您轻松提升客户终身价值。我们能无缝处理订阅生命周期中的各种变更，如升级、降级、增减席位等。更重要的是，通过优化结账流程和自动化续费提醒，我们能有效提升转化率和客户留存率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是我们的发票功能。您可以在几分钟内创建专业发票，并自动化整个应收账款流程。我们支持135多种货币，并内置税务合规功能，自动处理销售税和增值税。针对B2B支付，我们优化了本地银行转账等大额交易方式。更重要的是，我们的零接触对账功能能实时匹配付款与发票，大幅降低您的销售未清天数（DSO）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现在我们来看支付模块。Waffo的即时支付功能，让您通过一次集成，就能覆盖全球162个地区和480多种支付方式。您无需在当地设立实体，即可轻松进入新市场。我们支持以本地货币显示和支付，并通过直连本地收单渠道，为您的用户提供更流畅的体验、更高的成功率和更优的定价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的结账页面是提升转化率的关键。它不仅支持超过480种支付方式，确保您不会因为支付选项缺失而丢失订单，还通过地址自动填充、实时卡片验证等功能减少用户摩擦。您可以完全自定义结账页面的外观，使其与您的品牌完美融合。同时，智能本地化功能会自动适配用户的语言、货币和支付习惯，显著提升支付成功率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接下来是我们的增长模块，首先是记录商户（Merchant of Record）服务。这项服务能让您实现全球税务合规的自动化，无需再为VAT、GST等税种烦恼。通过提供本地化的结账体验，我们能有效提升转化率。我们的智能重试系统能自动挽回失败的付款，防止客户流失。最重要的是，我们为您承担支付失败、欺诈和拒付带来的财务风险，让您的收入更加稳定可预测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的成功率优化功能，是一个由AI驱动的智能路由和重试系统，能将授权率提升高达15%。我们提供全面的成功报告和根本原因分析，帮助您了解支付失败的真正原因。通过全球边缘节点和应急路由，我们确保支付流程的极致速度和稳定性。针对订阅业务，我们的智能重试机制能显著提高续费成功率。同时，结合记录商户服务和地址验证，我们能有效提升跨境支付的首次授权率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，是我们强大的欺诈保护系统。它由AI驱动，能够实时检测和阻止欺诈交易。我们的机器学习模型在庞大的全球支付网络上训练，能比传统方案更精准地识别风险。我们实现了争议管理的自动化，大大提升您的拒付胜诉率和运营效率。通过动态应用3D安全验证和先进的机器学习技术，我们在保护您的同时，确保了真实用户的流畅体验。您还可以自定义风控规则，实现真正的个性化保护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了解了我们的核心产品之后，让我们看看Waffo针对不同行业的解决方案。我们为AI与SaaS公司提供强大的支付基础设施和记录商户服务，让您专注于业务增长。针对游戏行业，我们支持高并发的游戏内购买和充值，并优化了本地化支付和定价。对于在线应用，我们通过可控的第三方结账和更广泛的本地支付接入，帮助您在全球范围内提升转化率和续费率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来看AI与SaaS行业。创始人通常面临四大痛点：第一，全球税务合规的复杂性和繁琐的合规要求；第二，新用户获取难，首次订阅支付成功率低，且缺乏本地化定价策略；第三，传统支付提供商功能有限，缺乏透明的费用和有效的成功率分析；第四，客户留存难，续费流程不畅，且缺乏有效的用户流失数据分析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针对这些痛点，Waffo提供了四大制胜法宝。首先，我们帮您处理所有支付相关的合规、税务和结算问题，让您的团队能专注于核心业务增长。其次，我们解锁全球订阅方式，支持各种支付工具和灵活的计费模型。第三，我们通过实时欺诈检测和自动化争议处理，保护您的每一分收入。最后，我们提供快速集成方案，让您能在几分钟内部署一个本地化的、高转化率的结账页面，迅速走向全球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是游戏行业。为什么全球游戏收入在规模化时会遭遇瓶颈？主要有四个原因：第一，玩家期望使用本地支付方式，但常常被拒绝；第二，全球支付扩展带来高昂的运营成本和复杂的集成；第三，游戏业务容易吸引“善意欺诈”，通用的风控规则难以平衡安全与体验；第四，峰值流量会暴露支付系统的弱点，导致支付失败率飙升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Waffo如何帮助游戏开发者赢得成功？首先，我们通过一次集成，让玩家可以使用他们信任的480多种本地支付方式进行购买。其次，我们通过与主流本地钱包合作，帮助您精准获取用户。第三，我们的结账系统专为峰值流量设计，确保在游戏发布或促销期间保持稳定可靠。最后，我们应用游戏感知的风控策略，在保护收入的同时，确保真实玩家的流畅体验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我们来看看在线应用行业。在线应用的收入在规模化时同样面临挑战。第一，应用内结账的灵活性有限，难以添加本地支付方式和调整流程。第二，高拒付率带来了隐藏的风险，侵蚀了收入和利润。第三，首次转化率是个黑盒，缺乏有效的分析工具来进行优化。第四，续费收入非常脆弱，失败的续费和过期的卡片处理不当，会造成大量收入流失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Waffo为在线应用提供了四大解决方案。第一，我们提供完全可定制的结账流程，让您能轻松集成本地支付方式。第二，我们的成功率优化功能提供可操作的洞察，帮助您提升支付表现。第三，我们通过自动化的重试逻辑和过期卡片管理，保护并提升您的续费收入。第四，我们通过欺诈检测和自动化争议处理，将拒付率控制在合理范围内，减少人工干预，保护您的收入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总结一下，Waffo与其他支付提供商有何不同？我们不仅仅是一个支付工具，更是您的增长伙伴。我们提供专业的记录商户服务，处理繁琐的税务合规；我们提供深度的失败分析和优化建议；我们提供快速的本地化语言支持；我们采用智能定价，您只需为成功的交易付费。相比之下，其他提供商往往是自助服务，报告功能基础，支持缓慢且常有隐藏费用。选择Waffo，就是选择一个更可靠、更专注于您业务增长的合作伙伴。谢谢大家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默认主题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5748369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13" Type="http://schemas.openxmlformats.org/officeDocument/2006/relationships/image" Target="../media/image11.png"/><Relationship Id="rId18" Type="http://schemas.openxmlformats.org/officeDocument/2006/relationships/image" Target="../media/image16.sv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svg"/><Relationship Id="rId17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sv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sv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svg"/><Relationship Id="rId4" Type="http://schemas.openxmlformats.org/officeDocument/2006/relationships/image" Target="../media/image2.svg"/><Relationship Id="rId9" Type="http://schemas.openxmlformats.org/officeDocument/2006/relationships/image" Target="../media/image7.png"/><Relationship Id="rId14" Type="http://schemas.openxmlformats.org/officeDocument/2006/relationships/image" Target="../media/image12.sv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8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sv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6.svg"/><Relationship Id="rId5" Type="http://schemas.openxmlformats.org/officeDocument/2006/relationships/image" Target="../media/image25.png"/><Relationship Id="rId10" Type="http://schemas.openxmlformats.org/officeDocument/2006/relationships/image" Target="../media/image30.svg"/><Relationship Id="rId4" Type="http://schemas.openxmlformats.org/officeDocument/2006/relationships/image" Target="../media/image24.svg"/><Relationship Id="rId9" Type="http://schemas.openxmlformats.org/officeDocument/2006/relationships/image" Target="../media/image2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sv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4.svg"/><Relationship Id="rId5" Type="http://schemas.openxmlformats.org/officeDocument/2006/relationships/image" Target="../media/image33.png"/><Relationship Id="rId4" Type="http://schemas.openxmlformats.org/officeDocument/2006/relationships/image" Target="../media/image32.sv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svg"/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0.svg"/><Relationship Id="rId5" Type="http://schemas.openxmlformats.org/officeDocument/2006/relationships/image" Target="../media/image39.png"/><Relationship Id="rId10" Type="http://schemas.openxmlformats.org/officeDocument/2006/relationships/image" Target="../media/image44.svg"/><Relationship Id="rId4" Type="http://schemas.openxmlformats.org/officeDocument/2006/relationships/image" Target="../media/image38.svg"/><Relationship Id="rId9" Type="http://schemas.openxmlformats.org/officeDocument/2006/relationships/image" Target="../media/image43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svg"/><Relationship Id="rId13" Type="http://schemas.openxmlformats.org/officeDocument/2006/relationships/image" Target="../media/image55.png"/><Relationship Id="rId18" Type="http://schemas.openxmlformats.org/officeDocument/2006/relationships/image" Target="../media/image60.svg"/><Relationship Id="rId3" Type="http://schemas.openxmlformats.org/officeDocument/2006/relationships/image" Target="../media/image45.png"/><Relationship Id="rId21" Type="http://schemas.openxmlformats.org/officeDocument/2006/relationships/image" Target="../media/image63.png"/><Relationship Id="rId7" Type="http://schemas.openxmlformats.org/officeDocument/2006/relationships/image" Target="../media/image49.png"/><Relationship Id="rId12" Type="http://schemas.openxmlformats.org/officeDocument/2006/relationships/image" Target="../media/image54.svg"/><Relationship Id="rId17" Type="http://schemas.openxmlformats.org/officeDocument/2006/relationships/image" Target="../media/image59.png"/><Relationship Id="rId2" Type="http://schemas.openxmlformats.org/officeDocument/2006/relationships/notesSlide" Target="../notesSlides/notesSlide18.xml"/><Relationship Id="rId16" Type="http://schemas.openxmlformats.org/officeDocument/2006/relationships/image" Target="../media/image58.svg"/><Relationship Id="rId20" Type="http://schemas.openxmlformats.org/officeDocument/2006/relationships/image" Target="../media/image62.sv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8.svg"/><Relationship Id="rId11" Type="http://schemas.openxmlformats.org/officeDocument/2006/relationships/image" Target="../media/image53.png"/><Relationship Id="rId5" Type="http://schemas.openxmlformats.org/officeDocument/2006/relationships/image" Target="../media/image47.png"/><Relationship Id="rId15" Type="http://schemas.openxmlformats.org/officeDocument/2006/relationships/image" Target="../media/image57.png"/><Relationship Id="rId23" Type="http://schemas.openxmlformats.org/officeDocument/2006/relationships/image" Target="../media/image65.png"/><Relationship Id="rId10" Type="http://schemas.openxmlformats.org/officeDocument/2006/relationships/image" Target="../media/image52.svg"/><Relationship Id="rId19" Type="http://schemas.openxmlformats.org/officeDocument/2006/relationships/image" Target="../media/image61.png"/><Relationship Id="rId4" Type="http://schemas.openxmlformats.org/officeDocument/2006/relationships/image" Target="../media/image46.svg"/><Relationship Id="rId9" Type="http://schemas.openxmlformats.org/officeDocument/2006/relationships/image" Target="../media/image51.png"/><Relationship Id="rId14" Type="http://schemas.openxmlformats.org/officeDocument/2006/relationships/image" Target="../media/image56.svg"/><Relationship Id="rId22" Type="http://schemas.openxmlformats.org/officeDocument/2006/relationships/image" Target="../media/image6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F172A">
                  <a:alpha val="90000"/>
                </a:srgbClr>
              </a:gs>
              <a:gs pos="100000">
                <a:srgbClr val="1E3A8A">
                  <a:alpha val="8500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609600" y="508000"/>
            <a:ext cx="109728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Waffo：All-in-One Global Payment Solution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260571" y="1841500"/>
            <a:ext cx="2540000" cy="2413000"/>
          </a:xfrm>
          <a:prstGeom prst="roundRect">
            <a:avLst>
              <a:gd name="adj" fmla="val 5263"/>
            </a:avLst>
          </a:prstGeom>
          <a:solidFill>
            <a:srgbClr val="FFFFFF">
              <a:alpha val="1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86071" y="2159000"/>
            <a:ext cx="889000" cy="8890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387571" y="3175000"/>
            <a:ext cx="2286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2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1 API</a:t>
            </a:r>
            <a:endParaRPr lang="en-US" sz="1100"/>
          </a:p>
          <a:p>
            <a:pPr indent="0" algn="ctr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Universal</a:t>
            </a:r>
          </a:p>
        </p:txBody>
      </p:sp>
      <p:sp>
        <p:nvSpPr>
          <p:cNvPr id="8" name="AutoShape 8"/>
          <p:cNvSpPr/>
          <p:nvPr/>
        </p:nvSpPr>
        <p:spPr>
          <a:xfrm>
            <a:off x="3308571" y="1841500"/>
            <a:ext cx="2540000" cy="2413000"/>
          </a:xfrm>
          <a:prstGeom prst="roundRect">
            <a:avLst>
              <a:gd name="adj" fmla="val 5263"/>
            </a:avLst>
          </a:prstGeom>
          <a:solidFill>
            <a:srgbClr val="FFFFFF">
              <a:alpha val="1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134071" y="2159000"/>
            <a:ext cx="889000" cy="8890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3435571" y="3175000"/>
            <a:ext cx="2286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2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162+</a:t>
            </a:r>
            <a:endParaRPr lang="en-US" sz="1100"/>
          </a:p>
          <a:p>
            <a:pPr indent="0" algn="ctr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Areas</a:t>
            </a:r>
          </a:p>
        </p:txBody>
      </p:sp>
      <p:sp>
        <p:nvSpPr>
          <p:cNvPr id="11" name="AutoShape 11"/>
          <p:cNvSpPr/>
          <p:nvPr/>
        </p:nvSpPr>
        <p:spPr>
          <a:xfrm>
            <a:off x="6356571" y="1841500"/>
            <a:ext cx="2540000" cy="2413000"/>
          </a:xfrm>
          <a:prstGeom prst="roundRect">
            <a:avLst>
              <a:gd name="adj" fmla="val 5263"/>
            </a:avLst>
          </a:prstGeom>
          <a:solidFill>
            <a:srgbClr val="FFFFFF">
              <a:alpha val="1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182071" y="2159000"/>
            <a:ext cx="889000" cy="8890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6483571" y="3175000"/>
            <a:ext cx="2286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2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135+</a:t>
            </a:r>
            <a:endParaRPr lang="en-US" sz="1100"/>
          </a:p>
          <a:p>
            <a:pPr indent="0" algn="ctr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Currencies</a:t>
            </a:r>
          </a:p>
        </p:txBody>
      </p:sp>
      <p:sp>
        <p:nvSpPr>
          <p:cNvPr id="14" name="AutoShape 14"/>
          <p:cNvSpPr/>
          <p:nvPr/>
        </p:nvSpPr>
        <p:spPr>
          <a:xfrm>
            <a:off x="9404571" y="1841500"/>
            <a:ext cx="2540000" cy="2413000"/>
          </a:xfrm>
          <a:prstGeom prst="roundRect">
            <a:avLst>
              <a:gd name="adj" fmla="val 5263"/>
            </a:avLst>
          </a:prstGeom>
          <a:solidFill>
            <a:srgbClr val="FFFFFF">
              <a:alpha val="1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230071" y="2159000"/>
            <a:ext cx="889000" cy="8890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9531571" y="3175000"/>
            <a:ext cx="2286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2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480+</a:t>
            </a:r>
            <a:endParaRPr lang="en-US" sz="1100"/>
          </a:p>
          <a:p>
            <a:pPr indent="0" algn="ctr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Payment Methods</a:t>
            </a:r>
          </a:p>
        </p:txBody>
      </p:sp>
      <p:sp>
        <p:nvSpPr>
          <p:cNvPr id="17" name="AutoShape 17"/>
          <p:cNvSpPr/>
          <p:nvPr/>
        </p:nvSpPr>
        <p:spPr>
          <a:xfrm>
            <a:off x="762000" y="4572000"/>
            <a:ext cx="10668000" cy="11430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270000" y="4826000"/>
            <a:ext cx="508000" cy="5080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1905000" y="4889500"/>
            <a:ext cx="127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E-Wallets</a:t>
            </a:r>
            <a:endParaRPr lang="en-US" sz="1100"/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810000" y="4826000"/>
            <a:ext cx="508000" cy="5080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4445000" y="4889500"/>
            <a:ext cx="139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Bank Transfers</a:t>
            </a:r>
            <a:endParaRPr lang="en-US" sz="1100"/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223000" y="4826000"/>
            <a:ext cx="508000" cy="508000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6858000" y="4889500"/>
            <a:ext cx="127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QR Code</a:t>
            </a:r>
            <a:endParaRPr lang="en-US" sz="1100"/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8636000" y="4826000"/>
            <a:ext cx="508000" cy="508000"/>
          </a:xfrm>
          <a:prstGeom prst="rect">
            <a:avLst/>
          </a:prstGeom>
        </p:spPr>
      </p:pic>
      <p:sp>
        <p:nvSpPr>
          <p:cNvPr id="25" name="AutoShape 25"/>
          <p:cNvSpPr/>
          <p:nvPr/>
        </p:nvSpPr>
        <p:spPr>
          <a:xfrm>
            <a:off x="9271000" y="4889500"/>
            <a:ext cx="127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BNPL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38200" y="368300"/>
            <a:ext cx="105156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indent="0" algn="l">
              <a:lnSpc>
                <a:spcPct val="91666"/>
              </a:lnSpc>
              <a:defRPr/>
            </a:pPr>
            <a:r>
              <a:rPr lang="en-US" sz="4400" b="1" i="0" u="none" strike="noStrike">
                <a:solidFill>
                  <a:srgbClr val="000000"/>
                </a:solidFill>
                <a:latin typeface="Play"/>
                <a:ea typeface="Play"/>
                <a:cs typeface="Play"/>
                <a:sym typeface="Play"/>
              </a:rPr>
              <a:t>Products &amp; Solutions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647700" y="1143000"/>
            <a:ext cx="110236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600" b="0" i="0" u="none" strike="noStrike">
                <a:solidFill>
                  <a:srgbClr val="505050"/>
                </a:solidFill>
                <a:latin typeface="Aptos"/>
                <a:ea typeface="Aptos"/>
                <a:cs typeface="Aptos"/>
                <a:sym typeface="Aptos"/>
              </a:rPr>
              <a:t>A merchant-growth-focused global monetization platform, handles global payments, taxes, subscriptions, and compliance—empowering businesses from solo founders to global enterprises.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16000" y="2095500"/>
            <a:ext cx="4826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4B8A6"/>
                </a:solidFill>
                <a:latin typeface="Poppins"/>
                <a:ea typeface="Poppins"/>
                <a:cs typeface="Poppins"/>
                <a:sym typeface="Poppins"/>
              </a:rPr>
              <a:t>Core Products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9046">
            <a:off x="1016008" y="2533650"/>
            <a:ext cx="482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14B8A6">
                <a:alpha val="6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6" name="AutoShape 6"/>
          <p:cNvSpPr/>
          <p:nvPr/>
        </p:nvSpPr>
        <p:spPr>
          <a:xfrm>
            <a:off x="1016000" y="2730500"/>
            <a:ext cx="4826000" cy="1079500"/>
          </a:xfrm>
          <a:prstGeom prst="roundRect">
            <a:avLst>
              <a:gd name="adj" fmla="val 11764"/>
            </a:avLst>
          </a:prstGeom>
          <a:solidFill>
            <a:srgbClr val="F0FDFA">
              <a:alpha val="100000"/>
            </a:srgbClr>
          </a:solidFill>
          <a:ln w="12700" cap="flat" cmpd="sng">
            <a:solidFill>
              <a:srgbClr val="14B8A6">
                <a:alpha val="20000"/>
              </a:srgbClr>
            </a:solidFill>
            <a:prstDash val="solid"/>
            <a:round/>
          </a:ln>
          <a:effectLst>
            <a:outerShdw blurRad="127000" dist="50800" dir="2700000" algn="tl" rotWithShape="0">
              <a:srgbClr val="14B8A6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1270000" y="2819400"/>
            <a:ext cx="4318000" cy="889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F766E"/>
                </a:solidFill>
                <a:latin typeface="Poppins"/>
                <a:ea typeface="Poppins"/>
                <a:cs typeface="Poppins"/>
                <a:sym typeface="Poppins"/>
              </a:rPr>
              <a:t>Billing System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52525B"/>
                </a:solidFill>
                <a:latin typeface="Poppins"/>
                <a:ea typeface="Poppins"/>
                <a:cs typeface="Poppins"/>
                <a:sym typeface="Poppins"/>
              </a:rPr>
              <a:t>Subscription Management &amp; Invoicing</a:t>
            </a:r>
          </a:p>
        </p:txBody>
      </p:sp>
      <p:sp>
        <p:nvSpPr>
          <p:cNvPr id="8" name="AutoShape 8"/>
          <p:cNvSpPr/>
          <p:nvPr/>
        </p:nvSpPr>
        <p:spPr>
          <a:xfrm>
            <a:off x="1016000" y="3937000"/>
            <a:ext cx="4826000" cy="1079500"/>
          </a:xfrm>
          <a:prstGeom prst="roundRect">
            <a:avLst>
              <a:gd name="adj" fmla="val 11764"/>
            </a:avLst>
          </a:prstGeom>
          <a:solidFill>
            <a:srgbClr val="F0FDFA">
              <a:alpha val="100000"/>
            </a:srgbClr>
          </a:solidFill>
          <a:ln w="12700" cap="flat" cmpd="sng">
            <a:solidFill>
              <a:srgbClr val="14B8A6">
                <a:alpha val="20000"/>
              </a:srgbClr>
            </a:solidFill>
            <a:prstDash val="solid"/>
            <a:round/>
          </a:ln>
          <a:effectLst>
            <a:outerShdw blurRad="127000" dist="50800" dir="2700000" algn="tl" rotWithShape="0">
              <a:srgbClr val="14B8A6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1270000" y="4025900"/>
            <a:ext cx="4318000" cy="889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F766E"/>
                </a:solidFill>
                <a:latin typeface="Poppins"/>
                <a:ea typeface="Poppins"/>
                <a:cs typeface="Poppins"/>
                <a:sym typeface="Poppins"/>
              </a:rPr>
              <a:t>Payment Processing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52525B"/>
                </a:solidFill>
                <a:latin typeface="Poppins"/>
                <a:ea typeface="Poppins"/>
                <a:cs typeface="Poppins"/>
                <a:sym typeface="Poppins"/>
              </a:rPr>
              <a:t>Global Payment Gateway &amp; Local Acquiring</a:t>
            </a:r>
          </a:p>
        </p:txBody>
      </p:sp>
      <p:sp>
        <p:nvSpPr>
          <p:cNvPr id="10" name="AutoShape 10"/>
          <p:cNvSpPr/>
          <p:nvPr/>
        </p:nvSpPr>
        <p:spPr>
          <a:xfrm>
            <a:off x="1016000" y="5143500"/>
            <a:ext cx="4826000" cy="1079500"/>
          </a:xfrm>
          <a:prstGeom prst="roundRect">
            <a:avLst>
              <a:gd name="adj" fmla="val 11764"/>
            </a:avLst>
          </a:prstGeom>
          <a:solidFill>
            <a:srgbClr val="F0FDFA">
              <a:alpha val="100000"/>
            </a:srgbClr>
          </a:solidFill>
          <a:ln w="12700" cap="flat" cmpd="sng">
            <a:solidFill>
              <a:srgbClr val="14B8A6">
                <a:alpha val="20000"/>
              </a:srgbClr>
            </a:solidFill>
            <a:prstDash val="solid"/>
            <a:round/>
          </a:ln>
          <a:effectLst>
            <a:outerShdw blurRad="127000" dist="50800" dir="2700000" algn="tl" rotWithShape="0">
              <a:srgbClr val="14B8A6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1270000" y="5232400"/>
            <a:ext cx="4318000" cy="889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F766E"/>
                </a:solidFill>
                <a:latin typeface="Poppins"/>
                <a:ea typeface="Poppins"/>
                <a:cs typeface="Poppins"/>
                <a:sym typeface="Poppins"/>
              </a:rPr>
              <a:t>Growth Accelerator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52525B"/>
                </a:solidFill>
                <a:latin typeface="Poppins"/>
                <a:ea typeface="Poppins"/>
                <a:cs typeface="Poppins"/>
                <a:sym typeface="Poppins"/>
              </a:rPr>
              <a:t>Merchant of Record &amp; Fraud Protection &amp; Optimization</a:t>
            </a:r>
          </a:p>
        </p:txBody>
      </p:sp>
      <p:sp>
        <p:nvSpPr>
          <p:cNvPr id="12" name="AutoShape 12"/>
          <p:cNvSpPr/>
          <p:nvPr/>
        </p:nvSpPr>
        <p:spPr>
          <a:xfrm>
            <a:off x="6350000" y="2095500"/>
            <a:ext cx="4826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4B8A6"/>
                </a:solidFill>
                <a:latin typeface="Poppins"/>
                <a:ea typeface="Poppins"/>
                <a:cs typeface="Poppins"/>
                <a:sym typeface="Poppins"/>
              </a:rPr>
              <a:t>Industry Solutions</a:t>
            </a:r>
            <a:endParaRPr lang="en-US" sz="1100"/>
          </a:p>
        </p:txBody>
      </p:sp>
      <p:cxnSp>
        <p:nvCxnSpPr>
          <p:cNvPr id="13" name="Connector 13"/>
          <p:cNvCxnSpPr/>
          <p:nvPr/>
        </p:nvCxnSpPr>
        <p:spPr>
          <a:xfrm rot="-9046">
            <a:off x="6350008" y="2533650"/>
            <a:ext cx="482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14B8A6">
                <a:alpha val="6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14" name="AutoShape 14"/>
          <p:cNvSpPr/>
          <p:nvPr/>
        </p:nvSpPr>
        <p:spPr>
          <a:xfrm>
            <a:off x="6350000" y="2730500"/>
            <a:ext cx="4826000" cy="1079500"/>
          </a:xfrm>
          <a:prstGeom prst="roundRect">
            <a:avLst>
              <a:gd name="adj" fmla="val 11764"/>
            </a:avLst>
          </a:prstGeom>
          <a:solidFill>
            <a:srgbClr val="F0FDFA">
              <a:alpha val="100000"/>
            </a:srgbClr>
          </a:solidFill>
          <a:ln w="12700" cap="flat" cmpd="sng">
            <a:solidFill>
              <a:srgbClr val="14B8A6">
                <a:alpha val="20000"/>
              </a:srgbClr>
            </a:solidFill>
            <a:prstDash val="solid"/>
            <a:round/>
          </a:ln>
          <a:effectLst>
            <a:outerShdw blurRad="127000" dist="50800" dir="2700000" algn="tl" rotWithShape="0">
              <a:srgbClr val="14B8A6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6604000" y="2819400"/>
            <a:ext cx="4318000" cy="889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F766E"/>
                </a:solidFill>
                <a:latin typeface="Poppins"/>
                <a:ea typeface="Poppins"/>
                <a:cs typeface="Poppins"/>
                <a:sym typeface="Poppins"/>
              </a:rPr>
              <a:t>AI &amp; SaaS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52525B"/>
                </a:solidFill>
                <a:latin typeface="Poppins"/>
                <a:ea typeface="Poppins"/>
                <a:cs typeface="Poppins"/>
                <a:sym typeface="Poppins"/>
              </a:rPr>
              <a:t>Simplify SaaS payment stack for recurring revenue</a:t>
            </a:r>
          </a:p>
        </p:txBody>
      </p:sp>
      <p:sp>
        <p:nvSpPr>
          <p:cNvPr id="16" name="AutoShape 16"/>
          <p:cNvSpPr/>
          <p:nvPr/>
        </p:nvSpPr>
        <p:spPr>
          <a:xfrm>
            <a:off x="6350000" y="3937000"/>
            <a:ext cx="4826000" cy="1079500"/>
          </a:xfrm>
          <a:prstGeom prst="roundRect">
            <a:avLst>
              <a:gd name="adj" fmla="val 11764"/>
            </a:avLst>
          </a:prstGeom>
          <a:solidFill>
            <a:srgbClr val="F0FDFA">
              <a:alpha val="100000"/>
            </a:srgbClr>
          </a:solidFill>
          <a:ln w="12700" cap="flat" cmpd="sng">
            <a:solidFill>
              <a:srgbClr val="14B8A6">
                <a:alpha val="20000"/>
              </a:srgbClr>
            </a:solidFill>
            <a:prstDash val="solid"/>
            <a:round/>
          </a:ln>
          <a:effectLst>
            <a:outerShdw blurRad="127000" dist="50800" dir="2700000" algn="tl" rotWithShape="0">
              <a:srgbClr val="14B8A6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6604000" y="4025900"/>
            <a:ext cx="4318000" cy="889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F766E"/>
                </a:solidFill>
                <a:latin typeface="Poppins"/>
                <a:ea typeface="Poppins"/>
                <a:cs typeface="Poppins"/>
                <a:sym typeface="Poppins"/>
              </a:rPr>
              <a:t>Gaming Industry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52525B"/>
                </a:solidFill>
                <a:latin typeface="Poppins"/>
                <a:ea typeface="Poppins"/>
                <a:cs typeface="Poppins"/>
                <a:sym typeface="Poppins"/>
              </a:rPr>
              <a:t>Seamless monetization for game developers</a:t>
            </a:r>
          </a:p>
        </p:txBody>
      </p:sp>
      <p:sp>
        <p:nvSpPr>
          <p:cNvPr id="18" name="AutoShape 18"/>
          <p:cNvSpPr/>
          <p:nvPr/>
        </p:nvSpPr>
        <p:spPr>
          <a:xfrm>
            <a:off x="6350000" y="5143500"/>
            <a:ext cx="4826000" cy="1079500"/>
          </a:xfrm>
          <a:prstGeom prst="roundRect">
            <a:avLst>
              <a:gd name="adj" fmla="val 11764"/>
            </a:avLst>
          </a:prstGeom>
          <a:solidFill>
            <a:srgbClr val="F0FDFA">
              <a:alpha val="100000"/>
            </a:srgbClr>
          </a:solidFill>
          <a:ln w="12700" cap="flat" cmpd="sng">
            <a:solidFill>
              <a:srgbClr val="14B8A6">
                <a:alpha val="20000"/>
              </a:srgbClr>
            </a:solidFill>
            <a:prstDash val="solid"/>
            <a:round/>
          </a:ln>
          <a:effectLst>
            <a:outerShdw blurRad="127000" dist="50800" dir="2700000" algn="tl" rotWithShape="0">
              <a:srgbClr val="14B8A6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AutoShape 19"/>
          <p:cNvSpPr/>
          <p:nvPr/>
        </p:nvSpPr>
        <p:spPr>
          <a:xfrm>
            <a:off x="6604000" y="5232400"/>
            <a:ext cx="4318000" cy="889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F766E"/>
                </a:solidFill>
                <a:latin typeface="Poppins"/>
                <a:ea typeface="Poppins"/>
                <a:cs typeface="Poppins"/>
                <a:sym typeface="Poppins"/>
              </a:rPr>
              <a:t>Online Applications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52525B"/>
                </a:solidFill>
                <a:latin typeface="Poppins"/>
                <a:ea typeface="Poppins"/>
                <a:cs typeface="Poppins"/>
                <a:sym typeface="Poppins"/>
              </a:rPr>
              <a:t>Optimized payment flows for web &amp; mobile apps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38200" y="444500"/>
            <a:ext cx="105156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4000" b="1" i="0" u="none" strike="noStrike" dirty="0">
                <a:solidFill>
                  <a:srgbClr val="1F2329"/>
                </a:solidFill>
                <a:latin typeface="Play"/>
                <a:ea typeface="Play"/>
                <a:cs typeface="Play"/>
                <a:sym typeface="Play"/>
              </a:rPr>
              <a:t>Core Product Modules</a:t>
            </a:r>
            <a:endParaRPr lang="en-US" sz="1100" dirty="0"/>
          </a:p>
        </p:txBody>
      </p:sp>
      <p:sp>
        <p:nvSpPr>
          <p:cNvPr id="3" name="AutoShape 3"/>
          <p:cNvSpPr/>
          <p:nvPr/>
        </p:nvSpPr>
        <p:spPr>
          <a:xfrm>
            <a:off x="838200" y="1587500"/>
            <a:ext cx="5080000" cy="482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127000" tIns="101600" rIns="127000" bIns="101600" rtlCol="0" anchor="t" anchorCtr="0"/>
          <a:lstStyle/>
          <a:p>
            <a:pPr indent="0" algn="l">
              <a:lnSpc>
                <a:spcPct val="108333"/>
              </a:lnSpc>
              <a:spcBef>
                <a:spcPts val="1500"/>
              </a:spcBef>
              <a:defRPr/>
            </a:pPr>
            <a:r>
              <a:rPr lang="en-US" sz="2400" b="1" i="0" u="none" strike="noStrike">
                <a:solidFill>
                  <a:srgbClr val="2563EB"/>
                </a:solidFill>
                <a:latin typeface="Aptos"/>
                <a:ea typeface="Aptos"/>
                <a:cs typeface="Aptos"/>
                <a:sym typeface="Aptos"/>
              </a:rPr>
              <a:t>01 / BILLING</a:t>
            </a:r>
            <a:endParaRPr lang="en-US" sz="1100"/>
          </a:p>
          <a:p>
            <a:pPr marL="254000" indent="-254000" algn="l">
              <a:lnSpc>
                <a:spcPct val="108333"/>
              </a:lnSpc>
              <a:buClr>
                <a:srgbClr val="374151"/>
              </a:buClr>
              <a:buChar char="•"/>
            </a:pPr>
            <a:r>
              <a:rPr lang="en-US" sz="2000" b="0" i="0" u="none" strike="noStrike">
                <a:solidFill>
                  <a:srgbClr val="374151"/>
                </a:solidFill>
                <a:latin typeface="Aptos"/>
                <a:ea typeface="Aptos"/>
                <a:cs typeface="Aptos"/>
                <a:sym typeface="Aptos"/>
              </a:rPr>
              <a:t>Flexible Subscription Management</a:t>
            </a:r>
          </a:p>
          <a:p>
            <a:pPr marL="254000" indent="-254000" algn="l">
              <a:lnSpc>
                <a:spcPct val="108333"/>
              </a:lnSpc>
              <a:buClr>
                <a:srgbClr val="374151"/>
              </a:buClr>
              <a:buChar char="•"/>
            </a:pPr>
            <a:r>
              <a:rPr lang="en-US" sz="2000" b="0" i="0" u="none" strike="noStrike">
                <a:solidFill>
                  <a:srgbClr val="374151"/>
                </a:solidFill>
                <a:latin typeface="Aptos"/>
                <a:ea typeface="Aptos"/>
                <a:cs typeface="Aptos"/>
                <a:sym typeface="Aptos"/>
              </a:rPr>
              <a:t>Professional Invoicing System</a:t>
            </a:r>
          </a:p>
          <a:p>
            <a:pPr indent="0" algn="l">
              <a:lnSpc>
                <a:spcPct val="108333"/>
              </a:lnSpc>
              <a:spcBef>
                <a:spcPts val="1500"/>
              </a:spcBef>
            </a:pPr>
            <a:r>
              <a:rPr lang="en-US" sz="2400" b="1" i="0" u="none" strike="noStrike">
                <a:solidFill>
                  <a:srgbClr val="2563EB"/>
                </a:solidFill>
                <a:latin typeface="Aptos"/>
                <a:ea typeface="Aptos"/>
                <a:cs typeface="Aptos"/>
                <a:sym typeface="Aptos"/>
              </a:rPr>
              <a:t>02 / PAYMENTS</a:t>
            </a:r>
          </a:p>
          <a:p>
            <a:pPr marL="254000" indent="-254000" algn="l">
              <a:lnSpc>
                <a:spcPct val="108333"/>
              </a:lnSpc>
              <a:buClr>
                <a:srgbClr val="374151"/>
              </a:buClr>
              <a:buChar char="•"/>
            </a:pPr>
            <a:r>
              <a:rPr lang="en-US" sz="2000" b="0" i="0" u="none" strike="noStrike">
                <a:solidFill>
                  <a:srgbClr val="374151"/>
                </a:solidFill>
                <a:latin typeface="Aptos"/>
                <a:ea typeface="Aptos"/>
                <a:cs typeface="Aptos"/>
                <a:sym typeface="Aptos"/>
              </a:rPr>
              <a:t>Global Instant Payments</a:t>
            </a:r>
          </a:p>
          <a:p>
            <a:pPr marL="254000" indent="-254000" algn="l">
              <a:lnSpc>
                <a:spcPct val="108333"/>
              </a:lnSpc>
              <a:buClr>
                <a:srgbClr val="374151"/>
              </a:buClr>
              <a:buChar char="•"/>
            </a:pPr>
            <a:r>
              <a:rPr lang="en-US" sz="2000" b="0" i="0" u="none" strike="noStrike">
                <a:solidFill>
                  <a:srgbClr val="374151"/>
                </a:solidFill>
                <a:latin typeface="Aptos"/>
                <a:ea typeface="Aptos"/>
                <a:cs typeface="Aptos"/>
                <a:sym typeface="Aptos"/>
              </a:rPr>
              <a:t>Customizable Checkout Experience</a:t>
            </a:r>
          </a:p>
          <a:p>
            <a:pPr indent="0" algn="l">
              <a:lnSpc>
                <a:spcPct val="108333"/>
              </a:lnSpc>
              <a:spcBef>
                <a:spcPts val="1500"/>
              </a:spcBef>
            </a:pPr>
            <a:r>
              <a:rPr lang="en-US" sz="2400" b="1" i="0" u="none" strike="noStrike">
                <a:solidFill>
                  <a:srgbClr val="2563EB"/>
                </a:solidFill>
                <a:latin typeface="Aptos"/>
                <a:ea typeface="Aptos"/>
                <a:cs typeface="Aptos"/>
                <a:sym typeface="Aptos"/>
              </a:rPr>
              <a:t>03 / GROWTH</a:t>
            </a:r>
          </a:p>
          <a:p>
            <a:pPr marL="254000" indent="-254000" algn="l">
              <a:lnSpc>
                <a:spcPct val="108333"/>
              </a:lnSpc>
              <a:buClr>
                <a:srgbClr val="374151"/>
              </a:buClr>
              <a:buChar char="•"/>
            </a:pPr>
            <a:r>
              <a:rPr lang="en-US" sz="2000" b="0" i="0" u="none" strike="noStrike">
                <a:solidFill>
                  <a:srgbClr val="374151"/>
                </a:solidFill>
                <a:latin typeface="Aptos"/>
                <a:ea typeface="Aptos"/>
                <a:cs typeface="Aptos"/>
                <a:sym typeface="Aptos"/>
              </a:rPr>
              <a:t>Merchant of Record Service</a:t>
            </a:r>
          </a:p>
          <a:p>
            <a:pPr marL="254000" indent="-254000" algn="l">
              <a:lnSpc>
                <a:spcPct val="108333"/>
              </a:lnSpc>
              <a:buClr>
                <a:srgbClr val="374151"/>
              </a:buClr>
              <a:buChar char="•"/>
            </a:pPr>
            <a:r>
              <a:rPr lang="en-US" sz="2000" b="0" i="0" u="none" strike="noStrike">
                <a:solidFill>
                  <a:srgbClr val="374151"/>
                </a:solidFill>
                <a:latin typeface="Aptos"/>
                <a:ea typeface="Aptos"/>
                <a:cs typeface="Aptos"/>
                <a:sym typeface="Aptos"/>
              </a:rPr>
              <a:t>Success Rate Optimization</a:t>
            </a:r>
          </a:p>
          <a:p>
            <a:pPr marL="254000" indent="-254000" algn="l">
              <a:lnSpc>
                <a:spcPct val="108333"/>
              </a:lnSpc>
              <a:buClr>
                <a:srgbClr val="374151"/>
              </a:buClr>
              <a:buChar char="•"/>
            </a:pPr>
            <a:r>
              <a:rPr lang="en-US" sz="2000" b="0" i="0" u="none" strike="noStrike">
                <a:solidFill>
                  <a:srgbClr val="374151"/>
                </a:solidFill>
                <a:latin typeface="Aptos"/>
                <a:ea typeface="Aptos"/>
                <a:cs typeface="Aptos"/>
                <a:sym typeface="Aptos"/>
              </a:rPr>
              <a:t>Advanced Fraud Protection</a:t>
            </a:r>
          </a:p>
        </p:txBody>
      </p:sp>
      <p:sp>
        <p:nvSpPr>
          <p:cNvPr id="4" name="AutoShape 4"/>
          <p:cNvSpPr/>
          <p:nvPr/>
        </p:nvSpPr>
        <p:spPr>
          <a:xfrm>
            <a:off x="6756400" y="1587500"/>
            <a:ext cx="4597400" cy="4826000"/>
          </a:xfrm>
          <a:prstGeom prst="roundRect">
            <a:avLst>
              <a:gd name="adj" fmla="val 2762"/>
            </a:avLst>
          </a:prstGeom>
          <a:solidFill>
            <a:srgbClr val="EFF6FF">
              <a:alpha val="100000"/>
            </a:srgbClr>
          </a:solidFill>
          <a:ln w="12700" cap="flat" cmpd="sng">
            <a:solidFill>
              <a:srgbClr val="DBEAFE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166100" y="2921000"/>
            <a:ext cx="1778000" cy="17780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7023100" y="4953000"/>
            <a:ext cx="406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563EB"/>
                </a:solidFill>
                <a:latin typeface="Aptos"/>
                <a:ea typeface="Aptos"/>
                <a:cs typeface="Aptos"/>
                <a:sym typeface="Aptos"/>
              </a:rPr>
              <a:t>Comprehensive Financial Ecosystem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0" y="6705600"/>
            <a:ext cx="12192000" cy="152400"/>
          </a:xfrm>
          <a:prstGeom prst="roundRect">
            <a:avLst>
              <a:gd name="adj" fmla="val 0"/>
            </a:avLst>
          </a:prstGeom>
          <a:solidFill>
            <a:srgbClr val="2563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38200" y="368300"/>
            <a:ext cx="105156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indent="0" algn="l">
              <a:lnSpc>
                <a:spcPct val="91666"/>
              </a:lnSpc>
              <a:defRPr/>
            </a:pPr>
            <a:r>
              <a:rPr lang="en-US" sz="3200" b="1" i="0" u="none" strike="noStrike">
                <a:solidFill>
                  <a:srgbClr val="2563EB"/>
                </a:solidFill>
                <a:latin typeface="Play"/>
                <a:ea typeface="Play"/>
                <a:cs typeface="Play"/>
                <a:sym typeface="Play"/>
              </a:rPr>
              <a:t>Subscription Management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838200" y="1270000"/>
            <a:ext cx="5588000" cy="1524000"/>
          </a:xfrm>
          <a:prstGeom prst="roundRect">
            <a:avLst>
              <a:gd name="adj" fmla="val 8333"/>
            </a:avLst>
          </a:prstGeom>
          <a:solidFill>
            <a:srgbClr val="EFF6FF">
              <a:alpha val="50000"/>
            </a:srgbClr>
          </a:solidFill>
          <a:ln w="12700" cap="flat" cmpd="sng">
            <a:solidFill>
              <a:srgbClr val="DBEAFE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1028700" y="1397000"/>
            <a:ext cx="5207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00000"/>
              </a:lnSpc>
              <a:spcBef>
                <a:spcPts val="500"/>
              </a:spcBef>
              <a:defRPr/>
            </a:pPr>
            <a:r>
              <a:rPr lang="en-US" sz="1800" b="1" i="0" u="none" strike="noStrike">
                <a:solidFill>
                  <a:srgbClr val="1E40AF"/>
                </a:solidFill>
                <a:latin typeface="Figtree"/>
                <a:ea typeface="Figtree"/>
                <a:cs typeface="Figtree"/>
                <a:sym typeface="Figtree"/>
              </a:rPr>
              <a:t>Flexible Billing Models</a:t>
            </a:r>
            <a:endParaRPr lang="en-US" sz="1100"/>
          </a:p>
          <a:p>
            <a:pPr marL="177800" indent="-177800" algn="l">
              <a:lnSpc>
                <a:spcPct val="100000"/>
              </a:lnSpc>
              <a:buClr>
                <a:srgbClr val="374151"/>
              </a:buClr>
              <a:buChar char="•"/>
            </a:pPr>
            <a:r>
              <a:rPr lang="en-US" sz="1400" b="0" i="0" u="none" strike="noStrike">
                <a:solidFill>
                  <a:srgbClr val="374151"/>
                </a:solidFill>
                <a:latin typeface="Figtree"/>
                <a:ea typeface="Figtree"/>
                <a:cs typeface="Figtree"/>
                <a:sym typeface="Figtree"/>
              </a:rPr>
              <a:t>Trials, usage-based billing, add-ons &amp; flexible cycles to maximize LTV.</a:t>
            </a:r>
          </a:p>
        </p:txBody>
      </p:sp>
      <p:sp>
        <p:nvSpPr>
          <p:cNvPr id="5" name="AutoShape 5"/>
          <p:cNvSpPr/>
          <p:nvPr/>
        </p:nvSpPr>
        <p:spPr>
          <a:xfrm>
            <a:off x="838200" y="2921000"/>
            <a:ext cx="5588000" cy="1524000"/>
          </a:xfrm>
          <a:prstGeom prst="roundRect">
            <a:avLst>
              <a:gd name="adj" fmla="val 8333"/>
            </a:avLst>
          </a:prstGeom>
          <a:solidFill>
            <a:srgbClr val="EFF6FF">
              <a:alpha val="50000"/>
            </a:srgbClr>
          </a:solidFill>
          <a:ln w="12700" cap="flat" cmpd="sng">
            <a:solidFill>
              <a:srgbClr val="DBEAFE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1028700" y="3048000"/>
            <a:ext cx="5207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00000"/>
              </a:lnSpc>
              <a:spcBef>
                <a:spcPts val="500"/>
              </a:spcBef>
              <a:defRPr/>
            </a:pPr>
            <a:r>
              <a:rPr lang="en-US" sz="1800" b="1" i="0" u="none" strike="noStrike">
                <a:solidFill>
                  <a:srgbClr val="1E40AF"/>
                </a:solidFill>
                <a:latin typeface="Figtree"/>
                <a:ea typeface="Figtree"/>
                <a:cs typeface="Figtree"/>
                <a:sym typeface="Figtree"/>
              </a:rPr>
              <a:t>Full Lifecycle Control</a:t>
            </a:r>
            <a:endParaRPr lang="en-US" sz="1100"/>
          </a:p>
          <a:p>
            <a:pPr marL="177800" indent="-177800" algn="l">
              <a:lnSpc>
                <a:spcPct val="100000"/>
              </a:lnSpc>
              <a:buClr>
                <a:srgbClr val="374151"/>
              </a:buClr>
              <a:buChar char="•"/>
            </a:pPr>
            <a:r>
              <a:rPr lang="en-US" sz="1400" b="0" i="0" u="none" strike="noStrike">
                <a:solidFill>
                  <a:srgbClr val="374151"/>
                </a:solidFill>
                <a:latin typeface="Figtree"/>
                <a:ea typeface="Figtree"/>
                <a:cs typeface="Figtree"/>
                <a:sym typeface="Figtree"/>
              </a:rPr>
              <a:t>Seamlessly handle upgrades, downgrades, seat adjustments, and credit modifications.</a:t>
            </a:r>
          </a:p>
        </p:txBody>
      </p:sp>
      <p:sp>
        <p:nvSpPr>
          <p:cNvPr id="7" name="AutoShape 7"/>
          <p:cNvSpPr/>
          <p:nvPr/>
        </p:nvSpPr>
        <p:spPr>
          <a:xfrm>
            <a:off x="838200" y="4572000"/>
            <a:ext cx="5588000" cy="1651000"/>
          </a:xfrm>
          <a:prstGeom prst="roundRect">
            <a:avLst>
              <a:gd name="adj" fmla="val 7692"/>
            </a:avLst>
          </a:prstGeom>
          <a:solidFill>
            <a:srgbClr val="EFF6FF">
              <a:alpha val="50000"/>
            </a:srgbClr>
          </a:solidFill>
          <a:ln w="12700" cap="flat" cmpd="sng">
            <a:solidFill>
              <a:srgbClr val="DBEAFE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1028700" y="4699000"/>
            <a:ext cx="5207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00000"/>
              </a:lnSpc>
              <a:spcBef>
                <a:spcPts val="500"/>
              </a:spcBef>
              <a:defRPr/>
            </a:pPr>
            <a:r>
              <a:rPr lang="en-US" sz="1800" b="1" i="0" u="none" strike="noStrike">
                <a:solidFill>
                  <a:srgbClr val="1E40AF"/>
                </a:solidFill>
                <a:latin typeface="Figtree"/>
                <a:ea typeface="Figtree"/>
                <a:cs typeface="Figtree"/>
                <a:sym typeface="Figtree"/>
              </a:rPr>
              <a:t>Conversion &amp; Retention Boost</a:t>
            </a:r>
            <a:endParaRPr lang="en-US" sz="1100"/>
          </a:p>
          <a:p>
            <a:pPr marL="177800" indent="-177800" algn="l">
              <a:lnSpc>
                <a:spcPct val="100000"/>
              </a:lnSpc>
              <a:buClr>
                <a:srgbClr val="374151"/>
              </a:buClr>
              <a:buChar char="•"/>
            </a:pPr>
            <a:r>
              <a:rPr lang="en-US" sz="1400" b="0" i="0" u="none" strike="noStrike">
                <a:solidFill>
                  <a:srgbClr val="374151"/>
                </a:solidFill>
                <a:latin typeface="Figtree"/>
                <a:ea typeface="Figtree"/>
                <a:cs typeface="Figtree"/>
                <a:sym typeface="Figtree"/>
              </a:rPr>
              <a:t>Custom checkout flows streamline payments.</a:t>
            </a:r>
          </a:p>
          <a:p>
            <a:pPr marL="177800" indent="-177800" algn="l">
              <a:lnSpc>
                <a:spcPct val="100000"/>
              </a:lnSpc>
              <a:buClr>
                <a:srgbClr val="374151"/>
              </a:buClr>
              <a:buChar char="•"/>
            </a:pPr>
            <a:r>
              <a:rPr lang="en-US" sz="1400" b="0" i="0" u="none" strike="noStrike">
                <a:solidFill>
                  <a:srgbClr val="374151"/>
                </a:solidFill>
                <a:latin typeface="Figtree"/>
                <a:ea typeface="Figtree"/>
                <a:cs typeface="Figtree"/>
                <a:sym typeface="Figtree"/>
              </a:rPr>
              <a:t>Smart renewal reminders reduce churn.</a:t>
            </a: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3"/>
          <a:srcRect t="3051" b="3051"/>
          <a:stretch>
            <a:fillRect/>
          </a:stretch>
        </p:blipFill>
        <p:spPr>
          <a:xfrm>
            <a:off x="6934200" y="1143000"/>
            <a:ext cx="4953000" cy="5080000"/>
          </a:xfrm>
          <a:prstGeom prst="roundRect">
            <a:avLst>
              <a:gd name="adj" fmla="val 3846"/>
            </a:avLst>
          </a:prstGeom>
          <a:noFill/>
          <a:ln w="25400" cap="flat" cmpd="sng">
            <a:noFill/>
            <a:prstDash val="solid"/>
            <a:round/>
          </a:ln>
          <a:effectLst>
            <a:outerShdw blurRad="254000" dist="101600" dir="2700000" algn="tl" rotWithShape="0">
              <a:srgbClr val="000000">
                <a:alpha val="15000"/>
              </a:srgbClr>
            </a:outerShdw>
          </a:effectLst>
        </p:spPr>
      </p:pic>
      <p:sp>
        <p:nvSpPr>
          <p:cNvPr id="10" name="AutoShape 10"/>
          <p:cNvSpPr/>
          <p:nvPr/>
        </p:nvSpPr>
        <p:spPr>
          <a:xfrm>
            <a:off x="6934200" y="6286500"/>
            <a:ext cx="495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Aptos"/>
                <a:ea typeface="Aptos"/>
                <a:cs typeface="Aptos"/>
                <a:sym typeface="Aptos"/>
              </a:rPr>
              <a:t>Waffo Subscription Dashboard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38200" y="368300"/>
            <a:ext cx="10515600" cy="647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indent="0" algn="l">
              <a:lnSpc>
                <a:spcPct val="91666"/>
              </a:lnSpc>
              <a:defRPr/>
            </a:pPr>
            <a:r>
              <a:rPr lang="en-US" sz="4000" b="1" i="0" u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Invoicing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838200" y="1257300"/>
            <a:ext cx="6210300" cy="538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08333"/>
              </a:lnSpc>
              <a:spcBef>
                <a:spcPts val="800"/>
              </a:spcBef>
              <a:defRPr/>
            </a:pPr>
            <a:r>
              <a:rPr lang="en-US" sz="1600" b="0" i="0" u="none" strike="noStrike">
                <a:solidFill>
                  <a:srgbClr val="505050"/>
                </a:solidFill>
                <a:latin typeface="Aptos"/>
                <a:ea typeface="Aptos"/>
                <a:cs typeface="Aptos"/>
                <a:sym typeface="Aptos"/>
              </a:rPr>
              <a:t>Create professional invoices in minutes and automate your entire accounts receivable workflow. With Waffo, you can issue invoices in 135+ currencies and let customers pay via their preferred local methods—all built-in compliance.</a:t>
            </a:r>
            <a:endParaRPr lang="en-US" sz="1100"/>
          </a:p>
          <a:p>
            <a:pPr marL="203200" indent="-203200" algn="l">
              <a:lnSpc>
                <a:spcPct val="100000"/>
              </a:lnSpc>
              <a:spcBef>
                <a:spcPts val="1200"/>
              </a:spcBef>
              <a:buClr>
                <a:srgbClr val="10B981"/>
              </a:buClr>
              <a:buChar char="•"/>
            </a:pPr>
            <a:r>
              <a:rPr lang="en-US" sz="1600" b="1" i="0" u="none" strike="noStrike">
                <a:solidFill>
                  <a:srgbClr val="10B981"/>
                </a:solidFill>
                <a:latin typeface="Aptos"/>
                <a:ea typeface="Aptos"/>
                <a:cs typeface="Aptos"/>
                <a:sym typeface="Aptos"/>
              </a:rPr>
              <a:t>Built-in Tax Compliance</a:t>
            </a:r>
          </a:p>
          <a:p>
            <a:pPr marL="304800" indent="0" algn="l">
              <a:lnSpc>
                <a:spcPct val="100000"/>
              </a:lnSpc>
            </a:pPr>
            <a:r>
              <a:rPr lang="en-US" sz="1500" b="0" i="0" u="none" strike="noStrike">
                <a:solidFill>
                  <a:srgbClr val="505050"/>
                </a:solidFill>
                <a:latin typeface="Aptos"/>
                <a:ea typeface="Aptos"/>
                <a:cs typeface="Aptos"/>
                <a:sym typeface="Aptos"/>
              </a:rPr>
              <a:t>Waffo handles sales tax, VAT calculation, and remittance automatically for every service you send.</a:t>
            </a:r>
          </a:p>
          <a:p>
            <a:pPr marL="203200" indent="-203200" algn="l">
              <a:lnSpc>
                <a:spcPct val="100000"/>
              </a:lnSpc>
              <a:spcBef>
                <a:spcPts val="1200"/>
              </a:spcBef>
              <a:buClr>
                <a:srgbClr val="10B981"/>
              </a:buClr>
              <a:buChar char="•"/>
            </a:pPr>
            <a:r>
              <a:rPr lang="en-US" sz="1600" b="1" i="0" u="none" strike="noStrike">
                <a:solidFill>
                  <a:srgbClr val="10B981"/>
                </a:solidFill>
                <a:latin typeface="Aptos"/>
                <a:ea typeface="Aptos"/>
                <a:cs typeface="Aptos"/>
                <a:sym typeface="Aptos"/>
              </a:rPr>
              <a:t>Optimized for B2B Payments</a:t>
            </a:r>
          </a:p>
          <a:p>
            <a:pPr marL="304800" indent="0" algn="l">
              <a:lnSpc>
                <a:spcPct val="100000"/>
              </a:lnSpc>
            </a:pPr>
            <a:r>
              <a:rPr lang="en-US" sz="1500" b="0" i="0" u="none" strike="noStrike">
                <a:solidFill>
                  <a:srgbClr val="505050"/>
                </a:solidFill>
                <a:latin typeface="Aptos"/>
                <a:ea typeface="Aptos"/>
                <a:cs typeface="Aptos"/>
                <a:sym typeface="Aptos"/>
              </a:rPr>
              <a:t>Support high-value transactions via local bank transfers, ACH, and SEPA, in addition to global cards and wallets.</a:t>
            </a:r>
          </a:p>
          <a:p>
            <a:pPr marL="203200" indent="-203200" algn="l">
              <a:lnSpc>
                <a:spcPct val="100000"/>
              </a:lnSpc>
              <a:spcBef>
                <a:spcPts val="1200"/>
              </a:spcBef>
              <a:buClr>
                <a:srgbClr val="10B981"/>
              </a:buClr>
              <a:buChar char="•"/>
            </a:pPr>
            <a:r>
              <a:rPr lang="en-US" sz="1600" b="1" i="0" u="none" strike="noStrike">
                <a:solidFill>
                  <a:srgbClr val="10B981"/>
                </a:solidFill>
                <a:latin typeface="Aptos"/>
                <a:ea typeface="Aptos"/>
                <a:cs typeface="Aptos"/>
                <a:sym typeface="Aptos"/>
              </a:rPr>
              <a:t>Zero-Touch Reconciliation</a:t>
            </a:r>
          </a:p>
          <a:p>
            <a:pPr marL="304800" indent="0" algn="l">
              <a:lnSpc>
                <a:spcPct val="100000"/>
              </a:lnSpc>
            </a:pPr>
            <a:r>
              <a:rPr lang="en-US" sz="1500" b="0" i="0" u="none" strike="noStrike">
                <a:solidFill>
                  <a:srgbClr val="505050"/>
                </a:solidFill>
                <a:latin typeface="Aptos"/>
                <a:ea typeface="Aptos"/>
                <a:cs typeface="Aptos"/>
                <a:sym typeface="Aptos"/>
              </a:rPr>
              <a:t>Incoming payments are automatically matched to issued invoices in real time, keeping your books perfectly balanced.</a:t>
            </a:r>
          </a:p>
          <a:p>
            <a:pPr marL="203200" indent="-203200" algn="l">
              <a:lnSpc>
                <a:spcPct val="100000"/>
              </a:lnSpc>
              <a:spcBef>
                <a:spcPts val="1200"/>
              </a:spcBef>
              <a:buClr>
                <a:srgbClr val="10B981"/>
              </a:buClr>
              <a:buChar char="•"/>
            </a:pPr>
            <a:r>
              <a:rPr lang="en-US" sz="1600" b="1" i="0" u="none" strike="noStrike">
                <a:solidFill>
                  <a:srgbClr val="10B981"/>
                </a:solidFill>
                <a:latin typeface="Aptos"/>
                <a:ea typeface="Aptos"/>
                <a:cs typeface="Aptos"/>
                <a:sym typeface="Aptos"/>
              </a:rPr>
              <a:t>Accelerated Payment (DSO)</a:t>
            </a:r>
          </a:p>
          <a:p>
            <a:pPr marL="304800" indent="0" algn="l">
              <a:lnSpc>
                <a:spcPct val="100000"/>
              </a:lnSpc>
            </a:pPr>
            <a:r>
              <a:rPr lang="en-US" sz="1500" b="0" i="0" u="none" strike="noStrike">
                <a:solidFill>
                  <a:srgbClr val="505050"/>
                </a:solidFill>
                <a:latin typeface="Aptos"/>
                <a:ea typeface="Aptos"/>
                <a:cs typeface="Aptos"/>
                <a:sym typeface="Aptos"/>
              </a:rPr>
              <a:t>Customers pay instantly without logging in, significantly reducing your Days Sales Outstanding.</a:t>
            </a: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rcRect l="17222" r="17222"/>
          <a:stretch>
            <a:fillRect/>
          </a:stretch>
        </p:blipFill>
        <p:spPr>
          <a:xfrm>
            <a:off x="7591761" y="1155700"/>
            <a:ext cx="3568700" cy="5080000"/>
          </a:xfrm>
          <a:prstGeom prst="roundRect">
            <a:avLst>
              <a:gd name="adj" fmla="val 7117"/>
            </a:avLst>
          </a:prstGeom>
          <a:noFill/>
          <a:ln w="25400" cap="flat" cmpd="sng">
            <a:noFill/>
            <a:prstDash val="solid"/>
            <a:round/>
          </a:ln>
          <a:effectLst>
            <a:outerShdw blurRad="190500" dist="63500" dir="2700000" algn="tl" rotWithShape="0">
              <a:srgbClr val="000000">
                <a:alpha val="15000"/>
              </a:srgbClr>
            </a:outerShdw>
          </a:effectLst>
        </p:spPr>
      </p:pic>
      <p:sp>
        <p:nvSpPr>
          <p:cNvPr id="5" name="AutoShape 5"/>
          <p:cNvSpPr/>
          <p:nvPr/>
        </p:nvSpPr>
        <p:spPr>
          <a:xfrm>
            <a:off x="7505700" y="6375400"/>
            <a:ext cx="35687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969696"/>
                </a:solidFill>
                <a:latin typeface="Aptos"/>
                <a:ea typeface="Aptos"/>
                <a:cs typeface="Aptos"/>
                <a:sym typeface="Aptos"/>
              </a:rPr>
              <a:t>Waffo Invoicing Dashboard Preview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38200" y="368300"/>
            <a:ext cx="10515600" cy="520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indent="0" algn="l">
              <a:lnSpc>
                <a:spcPct val="91666"/>
              </a:lnSpc>
              <a:defRPr/>
            </a:pPr>
            <a:r>
              <a:rPr lang="en-US" sz="4000" b="1" i="0" u="none" strike="noStrike">
                <a:solidFill>
                  <a:srgbClr val="000000"/>
                </a:solidFill>
                <a:latin typeface="Play"/>
                <a:ea typeface="Play"/>
                <a:cs typeface="Play"/>
                <a:sym typeface="Play"/>
              </a:rPr>
              <a:t>Instant Payments</a:t>
            </a:r>
            <a:endParaRPr lang="en-US" sz="1100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680200" y="889000"/>
            <a:ext cx="4914900" cy="5410200"/>
          </a:xfrm>
          <a:prstGeom prst="roundRect">
            <a:avLst>
              <a:gd name="adj" fmla="val 3875"/>
            </a:avLst>
          </a:prstGeom>
          <a:noFill/>
          <a:ln w="25400" cap="flat" cmpd="sng">
            <a:noFill/>
            <a:prstDash val="solid"/>
            <a:round/>
          </a:ln>
          <a:effectLst>
            <a:outerShdw blurRad="127000" dist="63500" dir="2700000" algn="tl" rotWithShape="0">
              <a:srgbClr val="000000">
                <a:alpha val="15000"/>
              </a:srgbClr>
            </a:outerShdw>
          </a:effectLst>
        </p:spPr>
      </p:pic>
      <p:sp>
        <p:nvSpPr>
          <p:cNvPr id="4" name="AutoShape 4"/>
          <p:cNvSpPr/>
          <p:nvPr/>
        </p:nvSpPr>
        <p:spPr>
          <a:xfrm>
            <a:off x="584200" y="1257300"/>
            <a:ext cx="5715000" cy="495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127000" tIns="101600" rIns="127000" bIns="101600" rtlCol="0" anchor="t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800" b="1" i="0" u="none" strike="noStrike">
                <a:solidFill>
                  <a:srgbClr val="505050"/>
                </a:solidFill>
                <a:latin typeface="Aptos"/>
                <a:ea typeface="Aptos"/>
                <a:cs typeface="Aptos"/>
                <a:sym typeface="Aptos"/>
              </a:rPr>
              <a:t>Global Integration Overview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600" b="0" i="0" u="none" strike="noStrike">
                <a:solidFill>
                  <a:srgbClr val="646464"/>
                </a:solidFill>
                <a:latin typeface="Aptos"/>
                <a:ea typeface="Aptos"/>
                <a:cs typeface="Aptos"/>
                <a:sym typeface="Aptos"/>
              </a:rPr>
              <a:t>Seamless integration covering 162+ Regions &amp; 480+ payment methods.</a:t>
            </a:r>
          </a:p>
          <a:p>
            <a:pPr indent="0" algn="l">
              <a:lnSpc>
                <a:spcPct val="125000"/>
              </a:lnSpc>
            </a:pPr>
            <a:endParaRPr lang="en-US" sz="1600" b="0" i="0" u="none" strike="noStrike">
              <a:solidFill>
                <a:srgbClr val="646464"/>
              </a:solidFill>
              <a:latin typeface="Aptos"/>
              <a:ea typeface="Aptos"/>
              <a:cs typeface="Aptos"/>
              <a:sym typeface="Aptos"/>
            </a:endParaRPr>
          </a:p>
          <a:p>
            <a:pPr indent="0" algn="l">
              <a:lnSpc>
                <a:spcPct val="100000"/>
              </a:lnSpc>
            </a:pPr>
            <a:r>
              <a:rPr lang="en-US" sz="1800" b="1" i="0" u="none" strike="noStrike">
                <a:solidFill>
                  <a:srgbClr val="174EA6"/>
                </a:solidFill>
                <a:latin typeface="Aptos"/>
                <a:ea typeface="Aptos"/>
                <a:cs typeface="Aptos"/>
                <a:sym typeface="Aptos"/>
              </a:rPr>
              <a:t>● One API, global reach</a:t>
            </a:r>
          </a:p>
          <a:p>
            <a:pPr indent="0" algn="l">
              <a:lnSpc>
                <a:spcPct val="100000"/>
              </a:lnSpc>
            </a:pPr>
            <a:r>
              <a:rPr lang="en-US" sz="1500" b="0" i="0" u="none" strike="noStrike">
                <a:solidFill>
                  <a:srgbClr val="3C3C3C"/>
                </a:solidFill>
                <a:latin typeface="Aptos"/>
                <a:ea typeface="Aptos"/>
                <a:cs typeface="Aptos"/>
                <a:sym typeface="Aptos"/>
              </a:rPr>
              <a:t>Integrate once to access payments across 162+ regions worldwide.</a:t>
            </a:r>
          </a:p>
          <a:p>
            <a:pPr indent="0" algn="l">
              <a:lnSpc>
                <a:spcPct val="100000"/>
              </a:lnSpc>
            </a:pPr>
            <a:endParaRPr lang="en-US" sz="1500" b="0" i="0" u="none" strike="noStrike">
              <a:solidFill>
                <a:srgbClr val="3C3C3C"/>
              </a:solidFill>
              <a:latin typeface="Aptos"/>
              <a:ea typeface="Aptos"/>
              <a:cs typeface="Aptos"/>
              <a:sym typeface="Aptos"/>
            </a:endParaRPr>
          </a:p>
          <a:p>
            <a:pPr indent="0" algn="l">
              <a:lnSpc>
                <a:spcPct val="100000"/>
              </a:lnSpc>
            </a:pPr>
            <a:r>
              <a:rPr lang="en-US" sz="1800" b="1" i="0" u="none" strike="noStrike">
                <a:solidFill>
                  <a:srgbClr val="174EA6"/>
                </a:solidFill>
                <a:latin typeface="Aptos"/>
                <a:ea typeface="Aptos"/>
                <a:cs typeface="Aptos"/>
                <a:sym typeface="Aptos"/>
              </a:rPr>
              <a:t>● No local entities required</a:t>
            </a:r>
          </a:p>
          <a:p>
            <a:pPr indent="0" algn="l">
              <a:lnSpc>
                <a:spcPct val="100000"/>
              </a:lnSpc>
            </a:pPr>
            <a:r>
              <a:rPr lang="en-US" sz="1500" b="0" i="0" u="none" strike="noStrike">
                <a:solidFill>
                  <a:srgbClr val="3C3C3C"/>
                </a:solidFill>
                <a:latin typeface="Aptos"/>
                <a:ea typeface="Aptos"/>
                <a:cs typeface="Aptos"/>
                <a:sym typeface="Aptos"/>
              </a:rPr>
              <a:t>Enter new markets without complex local compliance setup.</a:t>
            </a:r>
          </a:p>
          <a:p>
            <a:pPr indent="0" algn="l">
              <a:lnSpc>
                <a:spcPct val="100000"/>
              </a:lnSpc>
            </a:pPr>
            <a:endParaRPr lang="en-US" sz="1500" b="0" i="0" u="none" strike="noStrike">
              <a:solidFill>
                <a:srgbClr val="3C3C3C"/>
              </a:solidFill>
              <a:latin typeface="Aptos"/>
              <a:ea typeface="Aptos"/>
              <a:cs typeface="Aptos"/>
              <a:sym typeface="Aptos"/>
            </a:endParaRPr>
          </a:p>
          <a:p>
            <a:pPr indent="0" algn="l">
              <a:lnSpc>
                <a:spcPct val="100000"/>
              </a:lnSpc>
            </a:pPr>
            <a:r>
              <a:rPr lang="en-US" sz="1800" b="1" i="0" u="none" strike="noStrike">
                <a:solidFill>
                  <a:srgbClr val="174EA6"/>
                </a:solidFill>
                <a:latin typeface="Aptos"/>
                <a:ea typeface="Aptos"/>
                <a:cs typeface="Aptos"/>
                <a:sym typeface="Aptos"/>
              </a:rPr>
              <a:t>● Local Currency Support</a:t>
            </a:r>
          </a:p>
          <a:p>
            <a:pPr indent="0" algn="l">
              <a:lnSpc>
                <a:spcPct val="100000"/>
              </a:lnSpc>
            </a:pPr>
            <a:r>
              <a:rPr lang="en-US" sz="1500" b="0" i="0" u="none" strike="noStrike">
                <a:solidFill>
                  <a:srgbClr val="3C3C3C"/>
                </a:solidFill>
                <a:latin typeface="Aptos"/>
                <a:ea typeface="Aptos"/>
                <a:cs typeface="Aptos"/>
                <a:sym typeface="Aptos"/>
              </a:rPr>
              <a:t>Display prices and receive payments in the user's local currency.</a:t>
            </a:r>
          </a:p>
          <a:p>
            <a:pPr indent="0" algn="l">
              <a:lnSpc>
                <a:spcPct val="100000"/>
              </a:lnSpc>
            </a:pPr>
            <a:endParaRPr lang="en-US" sz="1500" b="0" i="0" u="none" strike="noStrike">
              <a:solidFill>
                <a:srgbClr val="3C3C3C"/>
              </a:solidFill>
              <a:latin typeface="Aptos"/>
              <a:ea typeface="Aptos"/>
              <a:cs typeface="Aptos"/>
              <a:sym typeface="Aptos"/>
            </a:endParaRPr>
          </a:p>
          <a:p>
            <a:pPr indent="0" algn="l">
              <a:lnSpc>
                <a:spcPct val="100000"/>
              </a:lnSpc>
            </a:pPr>
            <a:r>
              <a:rPr lang="en-US" sz="1800" b="1" i="0" u="none" strike="noStrike">
                <a:solidFill>
                  <a:srgbClr val="174EA6"/>
                </a:solidFill>
                <a:latin typeface="Aptos"/>
                <a:ea typeface="Aptos"/>
                <a:cs typeface="Aptos"/>
                <a:sym typeface="Aptos"/>
              </a:rPr>
              <a:t>● Direct Local Acquiring</a:t>
            </a:r>
          </a:p>
          <a:p>
            <a:pPr indent="0" algn="l">
              <a:lnSpc>
                <a:spcPct val="100000"/>
              </a:lnSpc>
            </a:pPr>
            <a:r>
              <a:rPr lang="en-US" sz="1500" b="0" i="0" u="none" strike="noStrike">
                <a:solidFill>
                  <a:srgbClr val="3C3C3C"/>
                </a:solidFill>
                <a:latin typeface="Aptos"/>
                <a:ea typeface="Aptos"/>
                <a:cs typeface="Aptos"/>
                <a:sym typeface="Aptos"/>
              </a:rPr>
              <a:t>Direct channel connections optimize UX, success rates &amp; pricing.</a:t>
            </a:r>
          </a:p>
        </p:txBody>
      </p:sp>
      <p:sp>
        <p:nvSpPr>
          <p:cNvPr id="5" name="AutoShape 5"/>
          <p:cNvSpPr/>
          <p:nvPr/>
        </p:nvSpPr>
        <p:spPr>
          <a:xfrm>
            <a:off x="0" y="6781800"/>
            <a:ext cx="12192000" cy="76200"/>
          </a:xfrm>
          <a:prstGeom prst="roundRect">
            <a:avLst>
              <a:gd name="adj" fmla="val 0"/>
            </a:avLst>
          </a:prstGeom>
          <a:solidFill>
            <a:srgbClr val="174EA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38200" y="381000"/>
            <a:ext cx="105156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3600" b="1" i="0" u="none" strike="noStrike">
                <a:solidFill>
                  <a:srgbClr val="000000"/>
                </a:solidFill>
                <a:latin typeface="Play"/>
                <a:ea typeface="Play"/>
                <a:cs typeface="Play"/>
                <a:sym typeface="Play"/>
              </a:rPr>
              <a:t>Checkout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838200" y="1397000"/>
            <a:ext cx="6858000" cy="495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63500" rIns="88900" bIns="63500" rtlCol="0" anchor="t" anchorCtr="0"/>
          <a:lstStyle/>
          <a:p>
            <a:pPr indent="0" algn="l">
              <a:lnSpc>
                <a:spcPct val="108333"/>
              </a:lnSpc>
              <a:spcBef>
                <a:spcPts val="800"/>
              </a:spcBef>
              <a:defRPr/>
            </a:pPr>
            <a:r>
              <a:rPr lang="en-US" sz="1500" b="0" i="0" u="none" strike="noStrike">
                <a:solidFill>
                  <a:srgbClr val="374151"/>
                </a:solidFill>
                <a:latin typeface="Aptos"/>
                <a:ea typeface="Aptos"/>
                <a:cs typeface="Aptos"/>
                <a:sym typeface="Aptos"/>
              </a:rPr>
              <a:t>Waffo checkout delivers a high-converting, fully customizable payment experience. Turn on new markets instantly without building separate integrations.</a:t>
            </a:r>
            <a:endParaRPr lang="en-US" sz="1100"/>
          </a:p>
          <a:p>
            <a:pPr indent="0" algn="l">
              <a:lnSpc>
                <a:spcPct val="108333"/>
              </a:lnSpc>
              <a:spcBef>
                <a:spcPts val="1600"/>
              </a:spcBef>
            </a:pPr>
            <a:r>
              <a:rPr lang="en-US" sz="1800" b="1" i="0" u="none" strike="noStrike">
                <a:solidFill>
                  <a:srgbClr val="2563EB"/>
                </a:solidFill>
                <a:latin typeface="Aptos"/>
                <a:ea typeface="Aptos"/>
                <a:cs typeface="Aptos"/>
                <a:sym typeface="Aptos"/>
              </a:rPr>
              <a:t>480+ Payment Methods</a:t>
            </a:r>
          </a:p>
          <a:p>
            <a:pPr indent="0" algn="l">
              <a:lnSpc>
                <a:spcPct val="108333"/>
              </a:lnSpc>
              <a:spcBef>
                <a:spcPts val="400"/>
              </a:spcBef>
            </a:pPr>
            <a:r>
              <a:rPr lang="en-US" sz="1400" b="0" i="0" u="none" strike="noStrike">
                <a:solidFill>
                  <a:srgbClr val="4B5563"/>
                </a:solidFill>
                <a:latin typeface="Aptos"/>
                <a:ea typeface="Aptos"/>
                <a:cs typeface="Aptos"/>
                <a:sym typeface="Aptos"/>
              </a:rPr>
              <a:t>Don't let missing options cost sales. Offer global cards, local wallets, and bank transfers for every customer.</a:t>
            </a:r>
          </a:p>
          <a:p>
            <a:pPr indent="0" algn="l">
              <a:lnSpc>
                <a:spcPct val="108333"/>
              </a:lnSpc>
              <a:spcBef>
                <a:spcPts val="1600"/>
              </a:spcBef>
            </a:pPr>
            <a:r>
              <a:rPr lang="en-US" sz="1800" b="1" i="0" u="none" strike="noStrike">
                <a:solidFill>
                  <a:srgbClr val="2563EB"/>
                </a:solidFill>
                <a:latin typeface="Aptos"/>
                <a:ea typeface="Aptos"/>
                <a:cs typeface="Aptos"/>
                <a:sym typeface="Aptos"/>
              </a:rPr>
              <a:t>Built for Conversion</a:t>
            </a:r>
          </a:p>
          <a:p>
            <a:pPr indent="0" algn="l">
              <a:lnSpc>
                <a:spcPct val="108333"/>
              </a:lnSpc>
              <a:spcBef>
                <a:spcPts val="400"/>
              </a:spcBef>
            </a:pPr>
            <a:r>
              <a:rPr lang="en-US" sz="1400" b="0" i="0" u="none" strike="noStrike">
                <a:solidFill>
                  <a:srgbClr val="4B5563"/>
                </a:solidFill>
                <a:latin typeface="Aptos"/>
                <a:ea typeface="Aptos"/>
                <a:cs typeface="Aptos"/>
                <a:sym typeface="Aptos"/>
              </a:rPr>
              <a:t>Reduce friction with address auto-complete, real-time card validation, and instant loading on any device.</a:t>
            </a:r>
          </a:p>
          <a:p>
            <a:pPr indent="0" algn="l">
              <a:lnSpc>
                <a:spcPct val="108333"/>
              </a:lnSpc>
              <a:spcBef>
                <a:spcPts val="1600"/>
              </a:spcBef>
            </a:pPr>
            <a:r>
              <a:rPr lang="en-US" sz="1800" b="1" i="0" u="none" strike="noStrike">
                <a:solidFill>
                  <a:srgbClr val="2563EB"/>
                </a:solidFill>
                <a:latin typeface="Aptos"/>
                <a:ea typeface="Aptos"/>
                <a:cs typeface="Aptos"/>
                <a:sym typeface="Aptos"/>
              </a:rPr>
              <a:t>Full Customization</a:t>
            </a:r>
          </a:p>
          <a:p>
            <a:pPr indent="0" algn="l">
              <a:lnSpc>
                <a:spcPct val="108333"/>
              </a:lnSpc>
              <a:spcBef>
                <a:spcPts val="400"/>
              </a:spcBef>
            </a:pPr>
            <a:r>
              <a:rPr lang="en-US" sz="1400" b="0" i="0" u="none" strike="noStrike">
                <a:solidFill>
                  <a:srgbClr val="4B5563"/>
                </a:solidFill>
                <a:latin typeface="Aptos"/>
                <a:ea typeface="Aptos"/>
                <a:cs typeface="Aptos"/>
                <a:sym typeface="Aptos"/>
              </a:rPr>
              <a:t>Match your brand perfectly—adjust colors, fonts, and shapes for hosted or embedded checkouts.</a:t>
            </a:r>
          </a:p>
          <a:p>
            <a:pPr indent="0" algn="l">
              <a:lnSpc>
                <a:spcPct val="108333"/>
              </a:lnSpc>
              <a:spcBef>
                <a:spcPts val="1600"/>
              </a:spcBef>
            </a:pPr>
            <a:r>
              <a:rPr lang="en-US" sz="1800" b="1" i="0" u="none" strike="noStrike">
                <a:solidFill>
                  <a:srgbClr val="2563EB"/>
                </a:solidFill>
                <a:latin typeface="Aptos"/>
                <a:ea typeface="Aptos"/>
                <a:cs typeface="Aptos"/>
                <a:sym typeface="Aptos"/>
              </a:rPr>
              <a:t>Smart Localization</a:t>
            </a:r>
          </a:p>
          <a:p>
            <a:pPr indent="0" algn="l">
              <a:lnSpc>
                <a:spcPct val="108333"/>
              </a:lnSpc>
              <a:spcBef>
                <a:spcPts val="400"/>
              </a:spcBef>
            </a:pPr>
            <a:r>
              <a:rPr lang="en-US" sz="1400" b="0" i="0" u="none" strike="noStrike">
                <a:solidFill>
                  <a:srgbClr val="4B5563"/>
                </a:solidFill>
                <a:latin typeface="Aptos"/>
                <a:ea typeface="Aptos"/>
                <a:cs typeface="Aptos"/>
                <a:sym typeface="Aptos"/>
              </a:rPr>
              <a:t>Auto-adapt to customer location for local language, currency, and trusted payment methods to boost acceptance.</a:t>
            </a: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8001000" y="1524000"/>
            <a:ext cx="3556000" cy="3810000"/>
          </a:xfrm>
          <a:prstGeom prst="roundRect">
            <a:avLst>
              <a:gd name="adj" fmla="val 5357"/>
            </a:avLst>
          </a:prstGeom>
          <a:noFill/>
          <a:ln w="25400" cap="flat" cmpd="sng">
            <a:noFill/>
            <a:prstDash val="solid"/>
            <a:round/>
          </a:ln>
          <a:effectLst>
            <a:outerShdw blurRad="254000" dist="127000" dir="2700000" algn="tl" rotWithShape="0">
              <a:srgbClr val="000000">
                <a:alpha val="15000"/>
              </a:srgbClr>
            </a:outerShdw>
          </a:effectLst>
        </p:spPr>
      </p:pic>
      <p:sp>
        <p:nvSpPr>
          <p:cNvPr id="5" name="AutoShape 5"/>
          <p:cNvSpPr/>
          <p:nvPr/>
        </p:nvSpPr>
        <p:spPr>
          <a:xfrm>
            <a:off x="8001000" y="5524500"/>
            <a:ext cx="3556000" cy="508000"/>
          </a:xfrm>
          <a:prstGeom prst="roundRect">
            <a:avLst>
              <a:gd name="adj" fmla="val 25000"/>
            </a:avLst>
          </a:prstGeom>
          <a:solidFill>
            <a:srgbClr val="EFF6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2563EB"/>
                </a:solidFill>
                <a:latin typeface="Aptos"/>
                <a:ea typeface="Aptos"/>
                <a:cs typeface="Aptos"/>
                <a:sym typeface="Aptos"/>
              </a:rPr>
              <a:t>One Dashboard for Global Reach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381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329"/>
                </a:solidFill>
                <a:latin typeface="Play"/>
                <a:ea typeface="Play"/>
                <a:cs typeface="Play"/>
                <a:sym typeface="Play"/>
              </a:rPr>
              <a:t>Merchant of Record: A Powerful Engine for Global Business Growth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397000"/>
            <a:ext cx="5207000" cy="2413000"/>
          </a:xfrm>
          <a:prstGeom prst="roundRect">
            <a:avLst>
              <a:gd name="adj" fmla="val 5263"/>
            </a:avLst>
          </a:prstGeom>
          <a:solidFill>
            <a:srgbClr val="F0F9FF">
              <a:alpha val="100000"/>
            </a:srgbClr>
          </a:solidFill>
          <a:ln w="12700" cap="flat" cmpd="sng">
            <a:solidFill>
              <a:srgbClr val="BAE6FD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1079500" y="1714500"/>
            <a:ext cx="812800" cy="812800"/>
          </a:xfrm>
          <a:prstGeom prst="ellipse">
            <a:avLst/>
          </a:prstGeom>
          <a:solidFill>
            <a:srgbClr val="E0F2F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31900" y="1866900"/>
            <a:ext cx="508000" cy="5080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2095500" y="1651000"/>
            <a:ext cx="3683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0C4A6E"/>
                </a:solidFill>
                <a:latin typeface="Noto Sans SC"/>
                <a:ea typeface="Noto Sans SC"/>
                <a:cs typeface="Noto Sans SC"/>
                <a:sym typeface="Noto Sans SC"/>
              </a:rPr>
              <a:t>Global Tax Compliance</a:t>
            </a:r>
            <a:endParaRPr lang="en-US" sz="1100"/>
          </a:p>
          <a:p>
            <a:pPr indent="0" algn="l">
              <a:lnSpc>
                <a:spcPct val="108333"/>
              </a:lnSpc>
              <a:spcBef>
                <a:spcPts val="800"/>
              </a:spcBef>
            </a:pPr>
            <a:r>
              <a:rPr lang="en-US" sz="1300" b="0" i="0" u="none" strike="noStrik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Automatically handles global tax compliance, including VAT, GST, etc., freeing you from tedious tax declaration processes.</a:t>
            </a:r>
          </a:p>
        </p:txBody>
      </p:sp>
      <p:sp>
        <p:nvSpPr>
          <p:cNvPr id="7" name="AutoShape 7"/>
          <p:cNvSpPr/>
          <p:nvPr/>
        </p:nvSpPr>
        <p:spPr>
          <a:xfrm>
            <a:off x="6223000" y="1397000"/>
            <a:ext cx="5207000" cy="2413000"/>
          </a:xfrm>
          <a:prstGeom prst="roundRect">
            <a:avLst>
              <a:gd name="adj" fmla="val 5263"/>
            </a:avLst>
          </a:prstGeom>
          <a:solidFill>
            <a:srgbClr val="F0FDF4">
              <a:alpha val="100000"/>
            </a:srgbClr>
          </a:solidFill>
          <a:ln w="12700" cap="flat" cmpd="sng">
            <a:solidFill>
              <a:srgbClr val="BBF7D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6540500" y="1714500"/>
            <a:ext cx="812800" cy="812800"/>
          </a:xfrm>
          <a:prstGeom prst="ellipse">
            <a:avLst/>
          </a:prstGeom>
          <a:solidFill>
            <a:srgbClr val="DCFCE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92900" y="1866900"/>
            <a:ext cx="508000" cy="5080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7556500" y="1651000"/>
            <a:ext cx="3683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14532D"/>
                </a:solidFill>
                <a:latin typeface="Noto Sans SC"/>
                <a:ea typeface="Noto Sans SC"/>
                <a:cs typeface="Noto Sans SC"/>
                <a:sym typeface="Noto Sans SC"/>
              </a:rPr>
              <a:t>Localized Checkout</a:t>
            </a:r>
            <a:endParaRPr lang="en-US" sz="1100"/>
          </a:p>
          <a:p>
            <a:pPr indent="0" algn="l">
              <a:lnSpc>
                <a:spcPct val="108333"/>
              </a:lnSpc>
              <a:spcBef>
                <a:spcPts val="800"/>
              </a:spcBef>
            </a:pPr>
            <a:r>
              <a:rPr lang="en-US" sz="1300" b="0" i="0" u="none" strike="noStrik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Supports multiple global languages, currencies, and payment methods, automatically adapting to significantly boost payment conversion rates for global consumers.</a:t>
            </a:r>
          </a:p>
        </p:txBody>
      </p:sp>
      <p:sp>
        <p:nvSpPr>
          <p:cNvPr id="11" name="AutoShape 11"/>
          <p:cNvSpPr/>
          <p:nvPr/>
        </p:nvSpPr>
        <p:spPr>
          <a:xfrm>
            <a:off x="762000" y="4064000"/>
            <a:ext cx="5207000" cy="2286000"/>
          </a:xfrm>
          <a:prstGeom prst="roundRect">
            <a:avLst>
              <a:gd name="adj" fmla="val 5555"/>
            </a:avLst>
          </a:prstGeom>
          <a:solidFill>
            <a:srgbClr val="FFFBEB">
              <a:alpha val="100000"/>
            </a:srgbClr>
          </a:solidFill>
          <a:ln w="12700" cap="flat" cmpd="sng">
            <a:solidFill>
              <a:srgbClr val="FEF3C7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1079500" y="4381500"/>
            <a:ext cx="812800" cy="812800"/>
          </a:xfrm>
          <a:prstGeom prst="ellipse">
            <a:avLst/>
          </a:prstGeom>
          <a:solidFill>
            <a:srgbClr val="FEF3C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231900" y="4533900"/>
            <a:ext cx="508000" cy="5080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2095500" y="4318000"/>
            <a:ext cx="36830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78350F"/>
                </a:solidFill>
                <a:latin typeface="Noto Sans SC"/>
                <a:ea typeface="Noto Sans SC"/>
                <a:cs typeface="Noto Sans SC"/>
                <a:sym typeface="Noto Sans SC"/>
              </a:rPr>
              <a:t>Stop Churn</a:t>
            </a:r>
            <a:endParaRPr lang="en-US" sz="1100"/>
          </a:p>
          <a:p>
            <a:pPr indent="0" algn="l">
              <a:lnSpc>
                <a:spcPct val="108333"/>
              </a:lnSpc>
              <a:spcBef>
                <a:spcPts val="800"/>
              </a:spcBef>
            </a:pPr>
            <a:r>
              <a:rPr lang="en-US" sz="1300" b="0" i="0" u="none" strike="noStrik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Intelligently retries failed payments, automatically updates cards and sends reminders, proactively recovering customers before churn to stabilize your recurring revenue.</a:t>
            </a:r>
          </a:p>
        </p:txBody>
      </p:sp>
      <p:sp>
        <p:nvSpPr>
          <p:cNvPr id="15" name="AutoShape 15"/>
          <p:cNvSpPr/>
          <p:nvPr/>
        </p:nvSpPr>
        <p:spPr>
          <a:xfrm>
            <a:off x="6223000" y="4064000"/>
            <a:ext cx="5207000" cy="2286000"/>
          </a:xfrm>
          <a:prstGeom prst="roundRect">
            <a:avLst>
              <a:gd name="adj" fmla="val 5555"/>
            </a:avLst>
          </a:prstGeom>
          <a:solidFill>
            <a:srgbClr val="FEF2F2">
              <a:alpha val="100000"/>
            </a:srgbClr>
          </a:solidFill>
          <a:ln w="12700" cap="flat" cmpd="sng">
            <a:solidFill>
              <a:srgbClr val="FECACA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6540500" y="4381500"/>
            <a:ext cx="812800" cy="812800"/>
          </a:xfrm>
          <a:prstGeom prst="ellipse">
            <a:avLst/>
          </a:prstGeom>
          <a:solidFill>
            <a:srgbClr val="FEE2E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692900" y="4533900"/>
            <a:ext cx="508000" cy="5080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7556500" y="4318000"/>
            <a:ext cx="36830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7F1D1D"/>
                </a:solidFill>
                <a:latin typeface="Noto Sans SC"/>
                <a:ea typeface="Noto Sans SC"/>
                <a:cs typeface="Noto Sans SC"/>
                <a:sym typeface="Noto Sans SC"/>
              </a:rPr>
              <a:t>Chargeback Protection</a:t>
            </a:r>
            <a:endParaRPr lang="en-US" sz="1100"/>
          </a:p>
          <a:p>
            <a:pPr indent="0" algn="l">
              <a:lnSpc>
                <a:spcPct val="108333"/>
              </a:lnSpc>
              <a:spcBef>
                <a:spcPts val="800"/>
              </a:spcBef>
            </a:pPr>
            <a:r>
              <a:rPr lang="en-US" sz="1300" b="0" i="0" u="none" strike="noStrik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We assume the risks of payment failures, fraud, and disputes for you. Our professional team handles disputes on your behalf, ensuring your revenue remains stable and reliable.</a:t>
            </a:r>
          </a:p>
        </p:txBody>
      </p:sp>
      <p:sp>
        <p:nvSpPr>
          <p:cNvPr id="19" name="AutoShape 19"/>
          <p:cNvSpPr/>
          <p:nvPr/>
        </p:nvSpPr>
        <p:spPr>
          <a:xfrm>
            <a:off x="0" y="6604000"/>
            <a:ext cx="12192000" cy="254000"/>
          </a:xfrm>
          <a:prstGeom prst="roundRect">
            <a:avLst>
              <a:gd name="adj" fmla="val 0"/>
            </a:avLst>
          </a:prstGeom>
          <a:solidFill>
            <a:srgbClr val="1F232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38200" y="368300"/>
            <a:ext cx="10515600" cy="1320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indent="0" algn="l">
              <a:lnSpc>
                <a:spcPct val="91666"/>
              </a:lnSpc>
              <a:defRPr/>
            </a:pPr>
            <a:r>
              <a:rPr lang="en-US" sz="4400" b="1" i="0" u="none" strike="noStrike">
                <a:solidFill>
                  <a:srgbClr val="000000"/>
                </a:solidFill>
                <a:latin typeface="Play"/>
                <a:ea typeface="Play"/>
                <a:cs typeface="Play"/>
                <a:sym typeface="Play"/>
              </a:rPr>
              <a:t>Success Rate Optimization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838200" y="1828800"/>
            <a:ext cx="10515600" cy="4356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75000"/>
              </a:lnSpc>
              <a:spcBef>
                <a:spcPts val="1000"/>
              </a:spcBef>
              <a:defRPr/>
            </a:pPr>
            <a:r>
              <a:rPr lang="en-US" sz="1500" b="0" i="0" u="none" strike="noStrike" dirty="0">
                <a:solidFill>
                  <a:srgbClr val="374151"/>
                </a:solidFill>
                <a:latin typeface="Aptos"/>
                <a:ea typeface="Aptos"/>
                <a:cs typeface="Aptos"/>
                <a:sym typeface="Aptos"/>
              </a:rPr>
              <a:t>Waffo Success Rate Optimization is an intelligent payment routing and retry system that improves authorization rates by up to 15%. Our proprietary AI-powered routing engine analyzes, routes, and retries transactions in real time.</a:t>
            </a:r>
            <a:endParaRPr lang="en-US" sz="1100" dirty="0"/>
          </a:p>
          <a:p>
            <a:pPr indent="0" algn="l">
              <a:lnSpc>
                <a:spcPct val="75000"/>
              </a:lnSpc>
              <a:spcBef>
                <a:spcPts val="1200"/>
              </a:spcBef>
            </a:pPr>
            <a:r>
              <a:rPr lang="en-US" sz="1600" b="1" i="0" u="none" strike="noStrike" dirty="0">
                <a:solidFill>
                  <a:srgbClr val="111827"/>
                </a:solidFill>
                <a:latin typeface="Aptos"/>
                <a:ea typeface="Aptos"/>
                <a:cs typeface="Aptos"/>
                <a:sym typeface="Aptos"/>
              </a:rPr>
              <a:t>● Comprehensive Success Reports &amp; Root Cause Analysis</a:t>
            </a:r>
          </a:p>
          <a:p>
            <a:pPr indent="0" algn="l">
              <a:lnSpc>
                <a:spcPct val="75000"/>
              </a:lnSpc>
              <a:spcBef>
                <a:spcPts val="600"/>
              </a:spcBef>
            </a:pPr>
            <a:r>
              <a:rPr lang="en-US" sz="1400" b="0" i="0" u="none" strike="noStrike" dirty="0">
                <a:solidFill>
                  <a:srgbClr val="4B5563"/>
                </a:solidFill>
                <a:latin typeface="Aptos"/>
                <a:ea typeface="Aptos"/>
                <a:cs typeface="Aptos"/>
                <a:sym typeface="Aptos"/>
              </a:rPr>
              <a:t>Standard reports only show 'what' happened? Waffo tells you 'why.' We break down Payment Success vs. Checkout Conversion and identify root causes—like bank restrictions—with user-friendly cycles, significantly increasing renewal rates for insufficient fund.</a:t>
            </a:r>
          </a:p>
          <a:p>
            <a:pPr indent="0" algn="l">
              <a:lnSpc>
                <a:spcPct val="75000"/>
              </a:lnSpc>
              <a:spcBef>
                <a:spcPts val="1200"/>
              </a:spcBef>
            </a:pPr>
            <a:r>
              <a:rPr lang="en-US" sz="1600" b="1" i="0" u="none" strike="noStrike" dirty="0">
                <a:solidFill>
                  <a:srgbClr val="111827"/>
                </a:solidFill>
                <a:latin typeface="Aptos"/>
                <a:ea typeface="Aptos"/>
                <a:cs typeface="Aptos"/>
                <a:sym typeface="Aptos"/>
              </a:rPr>
              <a:t>● Global Edge &amp; Emergency Routing</a:t>
            </a:r>
          </a:p>
          <a:p>
            <a:pPr indent="0" algn="l">
              <a:lnSpc>
                <a:spcPct val="75000"/>
              </a:lnSpc>
              <a:spcBef>
                <a:spcPts val="600"/>
              </a:spcBef>
            </a:pPr>
            <a:r>
              <a:rPr lang="en-US" sz="1400" b="0" i="0" u="none" strike="noStrike" dirty="0">
                <a:solidFill>
                  <a:srgbClr val="4B5563"/>
                </a:solidFill>
                <a:latin typeface="Aptos"/>
                <a:ea typeface="Aptos"/>
                <a:cs typeface="Aptos"/>
                <a:sym typeface="Aptos"/>
              </a:rPr>
              <a:t>Speed equals conversion. Our global nodes cut load times to 0.9s. Smart multi-MID routing instantly switches to backup channels if risks are detected, ensuring your business never stops due to downtime.</a:t>
            </a:r>
          </a:p>
          <a:p>
            <a:pPr indent="0" algn="l">
              <a:lnSpc>
                <a:spcPct val="75000"/>
              </a:lnSpc>
              <a:spcBef>
                <a:spcPts val="1200"/>
              </a:spcBef>
            </a:pPr>
            <a:r>
              <a:rPr lang="en-US" sz="1600" b="1" i="0" u="none" strike="noStrike" dirty="0">
                <a:solidFill>
                  <a:srgbClr val="111827"/>
                </a:solidFill>
                <a:latin typeface="Aptos"/>
                <a:ea typeface="Aptos"/>
                <a:cs typeface="Aptos"/>
                <a:sym typeface="Aptos"/>
              </a:rPr>
              <a:t>● Maximize Subscription Revenue</a:t>
            </a:r>
          </a:p>
          <a:p>
            <a:pPr indent="0" algn="l">
              <a:lnSpc>
                <a:spcPct val="75000"/>
              </a:lnSpc>
              <a:spcBef>
                <a:spcPts val="600"/>
              </a:spcBef>
            </a:pPr>
            <a:r>
              <a:rPr lang="en-US" sz="1400" b="0" i="0" u="none" strike="noStrike" dirty="0">
                <a:solidFill>
                  <a:srgbClr val="4B5563"/>
                </a:solidFill>
                <a:latin typeface="Aptos"/>
                <a:ea typeface="Aptos"/>
                <a:cs typeface="Aptos"/>
                <a:sym typeface="Aptos"/>
              </a:rPr>
              <a:t>AI-Driven Smart Retries: Timing is everything for recurring billing. Instead of blind retries that trigger fraud alerts, Waffo analyzes failure codes and retries with user-friendly cycles, significantly increasing renewal rates for insufficient fund.</a:t>
            </a:r>
          </a:p>
          <a:p>
            <a:pPr indent="0" algn="l">
              <a:lnSpc>
                <a:spcPct val="75000"/>
              </a:lnSpc>
              <a:spcBef>
                <a:spcPts val="1200"/>
              </a:spcBef>
            </a:pPr>
            <a:r>
              <a:rPr lang="en-US" sz="1600" b="1" i="0" u="none" strike="noStrike" dirty="0">
                <a:solidFill>
                  <a:srgbClr val="111827"/>
                </a:solidFill>
                <a:latin typeface="Aptos"/>
                <a:ea typeface="Aptos"/>
                <a:cs typeface="Aptos"/>
                <a:sym typeface="Aptos"/>
              </a:rPr>
              <a:t>● Merchant of Record (MOR) &amp; AVS</a:t>
            </a:r>
          </a:p>
          <a:p>
            <a:pPr indent="0" algn="l">
              <a:lnSpc>
                <a:spcPct val="75000"/>
              </a:lnSpc>
              <a:spcBef>
                <a:spcPts val="600"/>
              </a:spcBef>
            </a:pPr>
            <a:r>
              <a:rPr lang="en-US" sz="1400" b="0" i="0" u="none" strike="noStrike" dirty="0">
                <a:solidFill>
                  <a:srgbClr val="4B5563"/>
                </a:solidFill>
                <a:latin typeface="Aptos"/>
                <a:ea typeface="Aptos"/>
                <a:cs typeface="Aptos"/>
                <a:sym typeface="Aptos"/>
              </a:rPr>
              <a:t>Cross-border payments often fail due to lack of trust. Waffo connects you to local entities and utilizes Address Verification Service (AVS) to provide strong local trust signals, boosting first-time authorization rates by over 5%.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38200" y="368300"/>
            <a:ext cx="10515600" cy="1320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indent="0" algn="l">
              <a:lnSpc>
                <a:spcPct val="91666"/>
              </a:lnSpc>
              <a:defRPr/>
            </a:pPr>
            <a:r>
              <a:rPr lang="en-US" sz="4400" b="0" i="0" u="none" strike="noStrike">
                <a:solidFill>
                  <a:srgbClr val="000000"/>
                </a:solidFill>
                <a:latin typeface="Play"/>
                <a:ea typeface="Play"/>
                <a:cs typeface="Play"/>
                <a:sym typeface="Play"/>
              </a:rPr>
              <a:t>Fraud Protection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838200" y="1828800"/>
            <a:ext cx="10515600" cy="4356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66666"/>
              </a:lnSpc>
              <a:spcBef>
                <a:spcPts val="800"/>
              </a:spcBef>
              <a:defRPr/>
            </a:pPr>
            <a:r>
              <a:rPr lang="en-US" sz="1100" b="0" i="0" u="none" strike="noStrike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Waffo Fraud Protection is an AI-powered real-time fraud detection and chargeback management system. It detects and blocks fraudulent transactions using an engine that continuously learns from your unique transaction patterns.</a:t>
            </a:r>
            <a:endParaRPr lang="en-US" sz="1100"/>
          </a:p>
          <a:p>
            <a:pPr indent="0" algn="l">
              <a:lnSpc>
                <a:spcPct val="66666"/>
              </a:lnSpc>
              <a:spcBef>
                <a:spcPts val="1000"/>
              </a:spcBef>
            </a:pPr>
            <a:r>
              <a:rPr lang="en-US" sz="1100" b="1" i="0" u="none" strike="noStrike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AI-Powered Precision</a:t>
            </a:r>
          </a:p>
          <a:p>
            <a:pPr indent="0" algn="l">
              <a:lnSpc>
                <a:spcPct val="66666"/>
              </a:lnSpc>
              <a:spcBef>
                <a:spcPts val="400"/>
              </a:spcBef>
            </a:pPr>
            <a:r>
              <a:rPr lang="en-US" sz="1100" b="0" i="0" u="none" strike="noStrike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Our machine learning models train on a vast global payment network, adapting to shifting fraud patterns instantly, identifying risks with greater accuracy than third-party solutions.</a:t>
            </a:r>
          </a:p>
          <a:p>
            <a:pPr indent="0" algn="l">
              <a:lnSpc>
                <a:spcPct val="66666"/>
              </a:lnSpc>
              <a:spcBef>
                <a:spcPts val="1000"/>
              </a:spcBef>
            </a:pPr>
            <a:r>
              <a:rPr lang="en-US" sz="1100" b="1" i="0" u="none" strike="noStrike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Automated Dispute Management</a:t>
            </a:r>
          </a:p>
          <a:p>
            <a:pPr indent="0" algn="l">
              <a:lnSpc>
                <a:spcPct val="66666"/>
              </a:lnSpc>
              <a:spcBef>
                <a:spcPts val="400"/>
              </a:spcBef>
            </a:pPr>
            <a:r>
              <a:rPr lang="en-US" sz="1100" b="0" i="0" u="none" strike="noStrike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Say goodbye to manual paperwork. Automatically generate evidence and submit responses to issuers, boosting your dispute win rate and operational efficiency.</a:t>
            </a:r>
          </a:p>
          <a:p>
            <a:pPr indent="0" algn="l">
              <a:lnSpc>
                <a:spcPct val="66666"/>
              </a:lnSpc>
              <a:spcBef>
                <a:spcPts val="1000"/>
              </a:spcBef>
            </a:pPr>
            <a:r>
              <a:rPr lang="en-US" sz="1100" b="1" i="0" u="none" strike="noStrike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Frictionless Experience</a:t>
            </a:r>
          </a:p>
          <a:p>
            <a:pPr indent="0" algn="l">
              <a:lnSpc>
                <a:spcPct val="66666"/>
              </a:lnSpc>
              <a:spcBef>
                <a:spcPts val="400"/>
              </a:spcBef>
            </a:pPr>
            <a:r>
              <a:rPr lang="en-US" sz="1100" b="0" i="0" u="none" strike="noStrike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Dynamically apply 3D Secure only for high-risk transactions. Reduce false positives and let legitimate customers checkout in seconds without unnecessary hurdles.</a:t>
            </a:r>
          </a:p>
          <a:p>
            <a:pPr indent="0" algn="l">
              <a:lnSpc>
                <a:spcPct val="66666"/>
              </a:lnSpc>
              <a:spcBef>
                <a:spcPts val="1000"/>
              </a:spcBef>
            </a:pPr>
            <a:r>
              <a:rPr lang="en-US" sz="1100" b="1" i="0" u="none" strike="noStrike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Detect fraud before it happens</a:t>
            </a:r>
          </a:p>
          <a:p>
            <a:pPr indent="0" algn="l">
              <a:lnSpc>
                <a:spcPct val="66666"/>
              </a:lnSpc>
              <a:spcBef>
                <a:spcPts val="400"/>
              </a:spcBef>
            </a:pPr>
            <a:r>
              <a:rPr lang="en-US" sz="1100" b="0" i="0" u="none" strike="noStrike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Advanced Machine Learning leverages device fingerprinting, behavioral analytics, and historical snapshots to assign a multi-dimensional risk score to every transaction.</a:t>
            </a:r>
          </a:p>
          <a:p>
            <a:pPr indent="0" algn="l">
              <a:lnSpc>
                <a:spcPct val="66666"/>
              </a:lnSpc>
              <a:spcBef>
                <a:spcPts val="1000"/>
              </a:spcBef>
            </a:pPr>
            <a:r>
              <a:rPr lang="en-US" sz="1100" b="1" i="0" u="none" strike="noStrike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Your business, your rules</a:t>
            </a:r>
          </a:p>
          <a:p>
            <a:pPr indent="0" algn="l">
              <a:lnSpc>
                <a:spcPct val="66666"/>
              </a:lnSpc>
              <a:spcBef>
                <a:spcPts val="400"/>
              </a:spcBef>
            </a:pPr>
            <a:r>
              <a:rPr lang="en-US" sz="1100" b="0" i="0" u="none" strike="noStrike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Customizable Risk Logic: Use our visual editor to set precise rules, create allow/block lists, and define triggers for 3D Secure verification based on your needs.</a:t>
            </a:r>
          </a:p>
          <a:p>
            <a:pPr indent="0" algn="l">
              <a:lnSpc>
                <a:spcPct val="66666"/>
              </a:lnSpc>
              <a:spcBef>
                <a:spcPts val="1000"/>
              </a:spcBef>
            </a:pPr>
            <a:r>
              <a:rPr lang="en-US" sz="1100" b="1" i="0" u="none" strike="noStrike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Win more disputes on autopilot</a:t>
            </a:r>
          </a:p>
          <a:p>
            <a:pPr indent="0" algn="l">
              <a:lnSpc>
                <a:spcPct val="66666"/>
              </a:lnSpc>
              <a:spcBef>
                <a:spcPts val="400"/>
              </a:spcBef>
            </a:pPr>
            <a:r>
              <a:rPr lang="en-US" sz="1100" b="0" i="0" u="none" strike="noStrike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Instant Evidence Generation: Waffo's AI analyzes history to pre-fill the strongest evidence and predicts win probability when chargebacks occur.</a:t>
            </a:r>
          </a:p>
          <a:p>
            <a:pPr indent="0" algn="l">
              <a:lnSpc>
                <a:spcPct val="66666"/>
              </a:lnSpc>
              <a:spcBef>
                <a:spcPts val="1000"/>
              </a:spcBef>
            </a:pPr>
            <a:r>
              <a:rPr lang="en-US" sz="1100" b="1" i="0" u="none" strike="noStrike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Protection built into the flow</a:t>
            </a:r>
          </a:p>
          <a:p>
            <a:pPr indent="0" algn="l">
              <a:lnSpc>
                <a:spcPct val="66666"/>
              </a:lnSpc>
              <a:spcBef>
                <a:spcPts val="400"/>
              </a:spcBef>
            </a:pPr>
            <a:r>
              <a:rPr lang="en-US" sz="1100" b="0" i="0" u="none" strike="noStrike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Integrated natively with Waffo Checkout (no extra API calls). Adaptive 3D Secure challenges users only when necessary to keep conversion high.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09600" y="381000"/>
            <a:ext cx="109728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329"/>
                </a:solidFill>
                <a:latin typeface="Play"/>
                <a:ea typeface="Play"/>
                <a:cs typeface="Play"/>
                <a:sym typeface="Play"/>
              </a:rPr>
              <a:t>Waffo Solutions: Empowering Global Growth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609600" y="1016000"/>
            <a:ext cx="109728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6B7280"/>
                </a:solidFill>
                <a:latin typeface="Aptos"/>
                <a:ea typeface="Aptos"/>
                <a:cs typeface="Aptos"/>
                <a:sym typeface="Aptos"/>
              </a:rPr>
              <a:t>Tailored payment infrastructure for AI, Gaming, and Online Applications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609600" y="1651000"/>
            <a:ext cx="3429000" cy="4318000"/>
          </a:xfrm>
          <a:prstGeom prst="roundRect">
            <a:avLst>
              <a:gd name="adj" fmla="val 3703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203200" dist="101600" dir="27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816100" y="1968500"/>
            <a:ext cx="1016000" cy="1016000"/>
          </a:xfrm>
          <a:prstGeom prst="ellipse">
            <a:avLst/>
          </a:prstGeom>
          <a:solidFill>
            <a:srgbClr val="DBEAF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070100" y="2222500"/>
            <a:ext cx="508000" cy="5080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800100" y="31115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329"/>
                </a:solidFill>
                <a:latin typeface="Aptos"/>
                <a:ea typeface="Aptos"/>
                <a:cs typeface="Aptos"/>
                <a:sym typeface="Aptos"/>
              </a:rPr>
              <a:t>AI &amp; SAAS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800100" y="3619500"/>
            <a:ext cx="30480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just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Aptos"/>
                <a:ea typeface="Aptos"/>
                <a:cs typeface="Aptos"/>
                <a:sym typeface="Aptos"/>
              </a:rPr>
              <a:t>Waffo is a payment infrastructure and Merchant of Record platform built for AI/SaaS. Covering 480+ payment methods across 162+ countries, we maximize conversions while handling tax, compliance, and risk.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4267200" y="1651000"/>
            <a:ext cx="3429000" cy="4318000"/>
          </a:xfrm>
          <a:prstGeom prst="roundRect">
            <a:avLst>
              <a:gd name="adj" fmla="val 3703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203200" dist="101600" dir="27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5473700" y="1968500"/>
            <a:ext cx="1016000" cy="1016000"/>
          </a:xfrm>
          <a:prstGeom prst="ellipse">
            <a:avLst/>
          </a:prstGeom>
          <a:solidFill>
            <a:srgbClr val="FEF3C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727700" y="2222500"/>
            <a:ext cx="508000" cy="5080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4457700" y="31115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329"/>
                </a:solidFill>
                <a:latin typeface="Aptos"/>
                <a:ea typeface="Aptos"/>
                <a:cs typeface="Aptos"/>
                <a:sym typeface="Aptos"/>
              </a:rPr>
              <a:t>Gaming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4457700" y="3619500"/>
            <a:ext cx="30480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just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Aptos"/>
                <a:ea typeface="Aptos"/>
                <a:cs typeface="Aptos"/>
                <a:sym typeface="Aptos"/>
              </a:rPr>
              <a:t>Support high-volume in-game purchases with local payment methods, localized pricing, and stable checkout flows. Optimized to maximize conversion during live games and peak traffic.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7924800" y="1651000"/>
            <a:ext cx="3429000" cy="4318000"/>
          </a:xfrm>
          <a:prstGeom prst="roundRect">
            <a:avLst>
              <a:gd name="adj" fmla="val 3703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203200" dist="101600" dir="27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9131300" y="1968500"/>
            <a:ext cx="1016000" cy="1016000"/>
          </a:xfrm>
          <a:prstGeom prst="ellipse">
            <a:avLst/>
          </a:prstGeom>
          <a:solidFill>
            <a:srgbClr val="DCFCE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385300" y="2222500"/>
            <a:ext cx="508000" cy="5080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8115300" y="31115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329"/>
                </a:solidFill>
                <a:latin typeface="Aptos"/>
                <a:ea typeface="Aptos"/>
                <a:cs typeface="Aptos"/>
                <a:sym typeface="Aptos"/>
              </a:rPr>
              <a:t>Online Apps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8115300" y="3619500"/>
            <a:ext cx="30480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just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Aptos"/>
                <a:ea typeface="Aptos"/>
                <a:cs typeface="Aptos"/>
                <a:sym typeface="Aptos"/>
              </a:rPr>
              <a:t>Helps online apps monetize through controllable third-party checkout and broader local payment access. Drives higher first-time conversion and renewal rates globally.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0" y="6350000"/>
            <a:ext cx="12192000" cy="508000"/>
          </a:xfrm>
          <a:prstGeom prst="roundRect">
            <a:avLst>
              <a:gd name="adj" fmla="val 0"/>
            </a:avLst>
          </a:prstGeom>
          <a:solidFill>
            <a:srgbClr val="1E3A8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/>
                </a:solidFill>
                <a:latin typeface="Aptos"/>
                <a:ea typeface="Aptos"/>
                <a:cs typeface="Aptos"/>
                <a:sym typeface="Aptos"/>
              </a:rPr>
              <a:t>Global Payment Solutions for Every Industry · 162+ Countries Covered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38200" y="368300"/>
            <a:ext cx="10515600" cy="812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indent="0" algn="l">
              <a:lnSpc>
                <a:spcPct val="91666"/>
              </a:lnSpc>
              <a:defRPr/>
            </a:pPr>
            <a:r>
              <a:rPr lang="en-US" sz="4400" b="1" i="0" u="none" strike="noStrike">
                <a:solidFill>
                  <a:srgbClr val="000000"/>
                </a:solidFill>
                <a:latin typeface="Play"/>
                <a:ea typeface="Play"/>
                <a:cs typeface="Play"/>
                <a:sym typeface="Play"/>
              </a:rPr>
              <a:t>AI &amp; SAAS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660400" y="1282700"/>
            <a:ext cx="10160000" cy="647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AI founders' headaches: Core Challenges in Global Expansion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660400" y="1892300"/>
            <a:ext cx="5410200" cy="2108200"/>
          </a:xfrm>
          <a:prstGeom prst="roundRect">
            <a:avLst>
              <a:gd name="adj" fmla="val 12048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DE3EC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876300" y="2120900"/>
            <a:ext cx="254000" cy="254000"/>
          </a:xfrm>
          <a:prstGeom prst="ellipse">
            <a:avLst/>
          </a:prstGeom>
          <a:solidFill>
            <a:srgbClr val="E9E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939800" y="2171700"/>
            <a:ext cx="139700" cy="139700"/>
          </a:xfrm>
          <a:prstGeom prst="ellipse">
            <a:avLst/>
          </a:prstGeom>
          <a:solidFill>
            <a:srgbClr val="2A5C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1257300" y="2082800"/>
            <a:ext cx="4572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10172A"/>
                </a:solidFill>
                <a:latin typeface="Avenir Next"/>
                <a:ea typeface="Avenir Next"/>
                <a:cs typeface="Avenir Next"/>
                <a:sym typeface="Avenir Next"/>
              </a:rPr>
              <a:t>1. Compliance (Global &amp; Legal)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901700" y="2514600"/>
            <a:ext cx="49403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venir Next"/>
                <a:ea typeface="Avenir Next"/>
                <a:cs typeface="Avenir Next"/>
                <a:sym typeface="Avenir Next"/>
              </a:rPr>
              <a:t>• High complexity of global tax regulations</a:t>
            </a:r>
            <a:endParaRPr lang="en-US" sz="1100"/>
          </a:p>
          <a:p>
            <a:pPr indent="0" algn="l">
              <a:lnSpc>
                <a:spcPct val="108333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Avenir Next"/>
                <a:ea typeface="Avenir Next"/>
                <a:cs typeface="Avenir Next"/>
                <a:sym typeface="Avenir Next"/>
              </a:rPr>
              <a:t>• Cumbersome KYB documentation requirements</a:t>
            </a:r>
          </a:p>
          <a:p>
            <a:pPr indent="0" algn="l">
              <a:lnSpc>
                <a:spcPct val="108333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Avenir Next"/>
                <a:ea typeface="Avenir Next"/>
                <a:cs typeface="Avenir Next"/>
                <a:sym typeface="Avenir Next"/>
              </a:rPr>
              <a:t>• Risks of blocked accounts and frozen funds</a:t>
            </a:r>
          </a:p>
        </p:txBody>
      </p:sp>
      <p:sp>
        <p:nvSpPr>
          <p:cNvPr id="9" name="AutoShape 9"/>
          <p:cNvSpPr/>
          <p:nvPr/>
        </p:nvSpPr>
        <p:spPr>
          <a:xfrm>
            <a:off x="6121400" y="1892300"/>
            <a:ext cx="5410200" cy="2108200"/>
          </a:xfrm>
          <a:prstGeom prst="roundRect">
            <a:avLst>
              <a:gd name="adj" fmla="val 12048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DE3EC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6337300" y="2120900"/>
            <a:ext cx="254000" cy="254000"/>
          </a:xfrm>
          <a:prstGeom prst="ellipse">
            <a:avLst/>
          </a:prstGeom>
          <a:solidFill>
            <a:srgbClr val="FFF5E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6400800" y="2171700"/>
            <a:ext cx="139700" cy="139700"/>
          </a:xfrm>
          <a:prstGeom prst="ellipse">
            <a:avLst/>
          </a:prstGeom>
          <a:solidFill>
            <a:srgbClr val="F9A41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6718300" y="2082800"/>
            <a:ext cx="4572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10172A"/>
                </a:solidFill>
                <a:latin typeface="Avenir Next"/>
                <a:ea typeface="Avenir Next"/>
                <a:cs typeface="Avenir Next"/>
                <a:sym typeface="Avenir Next"/>
              </a:rPr>
              <a:t>2. Acquisition (User Growth)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350000" y="2514600"/>
            <a:ext cx="49403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venir Next"/>
                <a:ea typeface="Avenir Next"/>
                <a:cs typeface="Avenir Next"/>
                <a:sym typeface="Avenir Next"/>
              </a:rPr>
              <a:t>• Low success rate for first-time subscription payments</a:t>
            </a:r>
            <a:endParaRPr lang="en-US" sz="1100"/>
          </a:p>
          <a:p>
            <a:pPr indent="0" algn="l">
              <a:lnSpc>
                <a:spcPct val="108333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Avenir Next"/>
                <a:ea typeface="Avenir Next"/>
                <a:cs typeface="Avenir Next"/>
                <a:sym typeface="Avenir Next"/>
              </a:rPr>
              <a:t>• Inability to support localized pricing strategies</a:t>
            </a:r>
          </a:p>
          <a:p>
            <a:pPr indent="0" algn="l">
              <a:lnSpc>
                <a:spcPct val="108333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Avenir Next"/>
                <a:ea typeface="Avenir Next"/>
                <a:cs typeface="Avenir Next"/>
                <a:sym typeface="Avenir Next"/>
              </a:rPr>
              <a:t>• Unclear payment failures causing drop-offs</a:t>
            </a:r>
          </a:p>
        </p:txBody>
      </p:sp>
      <p:sp>
        <p:nvSpPr>
          <p:cNvPr id="14" name="AutoShape 14"/>
          <p:cNvSpPr/>
          <p:nvPr/>
        </p:nvSpPr>
        <p:spPr>
          <a:xfrm>
            <a:off x="660400" y="4241800"/>
            <a:ext cx="5410200" cy="2108200"/>
          </a:xfrm>
          <a:prstGeom prst="roundRect">
            <a:avLst>
              <a:gd name="adj" fmla="val 12048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DE3EC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876300" y="4470400"/>
            <a:ext cx="254000" cy="254000"/>
          </a:xfrm>
          <a:prstGeom prst="ellipse">
            <a:avLst/>
          </a:prstGeom>
          <a:solidFill>
            <a:srgbClr val="E5F8F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939800" y="4521200"/>
            <a:ext cx="139700" cy="139700"/>
          </a:xfrm>
          <a:prstGeom prst="ellipse">
            <a:avLst/>
          </a:prstGeom>
          <a:solidFill>
            <a:srgbClr val="12A59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1257300" y="4432300"/>
            <a:ext cx="4572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10172A"/>
                </a:solidFill>
                <a:latin typeface="Avenir Next"/>
                <a:ea typeface="Avenir Next"/>
                <a:cs typeface="Avenir Next"/>
                <a:sym typeface="Avenir Next"/>
              </a:rPr>
              <a:t>3. Payment Provider Limitations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901700" y="4864100"/>
            <a:ext cx="49403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venir Next"/>
                <a:ea typeface="Avenir Next"/>
                <a:cs typeface="Avenir Next"/>
                <a:sym typeface="Avenir Next"/>
              </a:rPr>
              <a:t>• Limited payment success rate analysis</a:t>
            </a:r>
            <a:endParaRPr lang="en-US" sz="1100"/>
          </a:p>
          <a:p>
            <a:pPr indent="0" algn="l">
              <a:lnSpc>
                <a:spcPct val="108333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Avenir Next"/>
                <a:ea typeface="Avenir Next"/>
                <a:cs typeface="Avenir Next"/>
                <a:sym typeface="Avenir Next"/>
              </a:rPr>
              <a:t>• Hidden fees and lack of transparent pricing</a:t>
            </a:r>
          </a:p>
          <a:p>
            <a:pPr indent="0" algn="l">
              <a:lnSpc>
                <a:spcPct val="108333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Avenir Next"/>
                <a:ea typeface="Avenir Next"/>
                <a:cs typeface="Avenir Next"/>
                <a:sym typeface="Avenir Next"/>
              </a:rPr>
              <a:t>• Slow customer support response time</a:t>
            </a:r>
          </a:p>
        </p:txBody>
      </p:sp>
      <p:sp>
        <p:nvSpPr>
          <p:cNvPr id="19" name="AutoShape 19"/>
          <p:cNvSpPr/>
          <p:nvPr/>
        </p:nvSpPr>
        <p:spPr>
          <a:xfrm>
            <a:off x="6121400" y="4241800"/>
            <a:ext cx="5410200" cy="2108200"/>
          </a:xfrm>
          <a:prstGeom prst="roundRect">
            <a:avLst>
              <a:gd name="adj" fmla="val 12048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DE3EC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0"/>
          <p:cNvSpPr/>
          <p:nvPr/>
        </p:nvSpPr>
        <p:spPr>
          <a:xfrm>
            <a:off x="6337300" y="4470400"/>
            <a:ext cx="254000" cy="254000"/>
          </a:xfrm>
          <a:prstGeom prst="ellipse">
            <a:avLst/>
          </a:prstGeom>
          <a:solidFill>
            <a:srgbClr val="FEECF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AutoShape 21"/>
          <p:cNvSpPr/>
          <p:nvPr/>
        </p:nvSpPr>
        <p:spPr>
          <a:xfrm>
            <a:off x="6400800" y="4521200"/>
            <a:ext cx="139700" cy="139700"/>
          </a:xfrm>
          <a:prstGeom prst="ellipse">
            <a:avLst/>
          </a:prstGeom>
          <a:solidFill>
            <a:srgbClr val="F472B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" name="AutoShape 22"/>
          <p:cNvSpPr/>
          <p:nvPr/>
        </p:nvSpPr>
        <p:spPr>
          <a:xfrm>
            <a:off x="6718300" y="4432300"/>
            <a:ext cx="4572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10172A"/>
                </a:solidFill>
                <a:latin typeface="Avenir Next"/>
                <a:ea typeface="Avenir Next"/>
                <a:cs typeface="Avenir Next"/>
                <a:sym typeface="Avenir Next"/>
              </a:rPr>
              <a:t>4. Retention (Customer Loyalty)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6350000" y="4864100"/>
            <a:ext cx="49403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venir Next"/>
                <a:ea typeface="Avenir Next"/>
                <a:cs typeface="Avenir Next"/>
                <a:sym typeface="Avenir Next"/>
              </a:rPr>
              <a:t>• Interrupted recurring payments due to declines</a:t>
            </a:r>
            <a:endParaRPr lang="en-US" sz="1100"/>
          </a:p>
          <a:p>
            <a:pPr indent="0" algn="l">
              <a:lnSpc>
                <a:spcPct val="108333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Avenir Next"/>
                <a:ea typeface="Avenir Next"/>
                <a:cs typeface="Avenir Next"/>
                <a:sym typeface="Avenir Next"/>
              </a:rPr>
              <a:t>• Lack of visibility into customer churn data</a:t>
            </a:r>
          </a:p>
          <a:p>
            <a:pPr indent="0" algn="l">
              <a:lnSpc>
                <a:spcPct val="108333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Avenir Next"/>
                <a:ea typeface="Avenir Next"/>
                <a:cs typeface="Avenir Next"/>
                <a:sym typeface="Avenir Next"/>
              </a:rPr>
              <a:t>• Inflexible plans (no support for upgrades/downgrades)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38200" y="368300"/>
            <a:ext cx="10515600" cy="647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indent="0" algn="l">
              <a:lnSpc>
                <a:spcPct val="91666"/>
              </a:lnSpc>
              <a:defRPr/>
            </a:pPr>
            <a:r>
              <a:rPr lang="en-US" sz="4000" b="1" i="0" u="none" strike="noStrike">
                <a:solidFill>
                  <a:srgbClr val="000000"/>
                </a:solidFill>
                <a:latin typeface="Play"/>
                <a:ea typeface="Play"/>
                <a:cs typeface="Play"/>
                <a:sym typeface="Play"/>
              </a:rPr>
              <a:t>AI &amp; SAAS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838200" y="1143000"/>
            <a:ext cx="105156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1F2329"/>
                </a:solidFill>
                <a:latin typeface="Aptos"/>
                <a:ea typeface="Aptos"/>
                <a:cs typeface="Aptos"/>
                <a:sym typeface="Aptos"/>
              </a:rPr>
              <a:t>How Waffo Helps You Win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660400" y="1841500"/>
            <a:ext cx="5410200" cy="2159000"/>
          </a:xfrm>
          <a:prstGeom prst="roundRect">
            <a:avLst>
              <a:gd name="adj" fmla="val 11764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DDE3EC">
                <a:alpha val="100000"/>
              </a:srgbClr>
            </a:solidFill>
            <a:prstDash val="solid"/>
            <a:miter lim="10000000"/>
          </a:ln>
          <a:effectLst>
            <a:outerShdw blurRad="101600" dist="50800" dir="54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901700" y="2095500"/>
            <a:ext cx="609600" cy="609600"/>
          </a:xfrm>
          <a:prstGeom prst="ellipse">
            <a:avLst/>
          </a:prstGeom>
          <a:solidFill>
            <a:srgbClr val="E9E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03300" y="2197100"/>
            <a:ext cx="406400" cy="4064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651000" y="20574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2A5CFF"/>
                </a:solidFill>
                <a:latin typeface="Avenir Next"/>
                <a:ea typeface="Avenir Next"/>
                <a:cs typeface="Avenir Next"/>
                <a:sym typeface="Avenir Next"/>
              </a:rPr>
              <a:t>Grow faster by not building payments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651000" y="2603500"/>
            <a:ext cx="4191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Avenir Next"/>
                <a:ea typeface="Avenir Next"/>
                <a:cs typeface="Avenir Next"/>
                <a:sym typeface="Avenir Next"/>
              </a:rPr>
              <a:t>Handles global tax, compliance, invoicing, settlement, and chargebacks so your team stays focused on growth.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121400" y="1841500"/>
            <a:ext cx="5410200" cy="2159000"/>
          </a:xfrm>
          <a:prstGeom prst="roundRect">
            <a:avLst>
              <a:gd name="adj" fmla="val 11764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DDE3EC">
                <a:alpha val="100000"/>
              </a:srgbClr>
            </a:solidFill>
            <a:prstDash val="solid"/>
            <a:miter lim="10000000"/>
          </a:ln>
          <a:effectLst>
            <a:outerShdw blurRad="101600" dist="50800" dir="54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6362700" y="2095500"/>
            <a:ext cx="609600" cy="609600"/>
          </a:xfrm>
          <a:prstGeom prst="ellipse">
            <a:avLst/>
          </a:prstGeom>
          <a:solidFill>
            <a:srgbClr val="FFF5E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64300" y="2197100"/>
            <a:ext cx="406400" cy="4064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7112000" y="20574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F9A41B"/>
                </a:solidFill>
                <a:latin typeface="Avenir Next"/>
                <a:ea typeface="Avenir Next"/>
                <a:cs typeface="Avenir Next"/>
                <a:sym typeface="Avenir Next"/>
              </a:rPr>
              <a:t>Unlock More Ways to Subscribe Globally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7112000" y="2603500"/>
            <a:ext cx="4191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Avenir Next"/>
                <a:ea typeface="Avenir Next"/>
                <a:cs typeface="Avenir Next"/>
                <a:sym typeface="Avenir Next"/>
              </a:rPr>
              <a:t>Support subscriptions via cards, wallets, and flexible billing models to boost global conversion and renewals.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60400" y="4191000"/>
            <a:ext cx="5410200" cy="2159000"/>
          </a:xfrm>
          <a:prstGeom prst="roundRect">
            <a:avLst>
              <a:gd name="adj" fmla="val 11764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DDE3EC">
                <a:alpha val="100000"/>
              </a:srgbClr>
            </a:solidFill>
            <a:prstDash val="solid"/>
            <a:miter lim="10000000"/>
          </a:ln>
          <a:effectLst>
            <a:outerShdw blurRad="101600" dist="50800" dir="54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901700" y="4445000"/>
            <a:ext cx="609600" cy="609600"/>
          </a:xfrm>
          <a:prstGeom prst="ellipse">
            <a:avLst/>
          </a:prstGeom>
          <a:solidFill>
            <a:srgbClr val="E5F8F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03300" y="4546600"/>
            <a:ext cx="406400" cy="4064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1651000" y="44069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12A594"/>
                </a:solidFill>
                <a:latin typeface="Avenir Next"/>
                <a:ea typeface="Avenir Next"/>
                <a:cs typeface="Avenir Next"/>
                <a:sym typeface="Avenir Next"/>
              </a:rPr>
              <a:t>Protect every dollar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1651000" y="4953000"/>
            <a:ext cx="4191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Avenir Next"/>
                <a:ea typeface="Avenir Next"/>
                <a:cs typeface="Avenir Next"/>
                <a:sym typeface="Avenir Next"/>
              </a:rPr>
              <a:t>Real-time fraud detection and automated dispute handling safeguard revenue and reduce leakage.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6121400" y="4191000"/>
            <a:ext cx="5410200" cy="2159000"/>
          </a:xfrm>
          <a:prstGeom prst="roundRect">
            <a:avLst>
              <a:gd name="adj" fmla="val 11764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DDE3EC">
                <a:alpha val="100000"/>
              </a:srgbClr>
            </a:solidFill>
            <a:prstDash val="solid"/>
            <a:miter lim="10000000"/>
          </a:ln>
          <a:effectLst>
            <a:outerShdw blurRad="101600" dist="50800" dir="54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0"/>
          <p:cNvSpPr/>
          <p:nvPr/>
        </p:nvSpPr>
        <p:spPr>
          <a:xfrm>
            <a:off x="6362700" y="4445000"/>
            <a:ext cx="609600" cy="609600"/>
          </a:xfrm>
          <a:prstGeom prst="ellipse">
            <a:avLst/>
          </a:prstGeom>
          <a:solidFill>
            <a:srgbClr val="FEECF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464300" y="4546600"/>
            <a:ext cx="406400" cy="4064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7112000" y="44069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F472B6"/>
                </a:solidFill>
                <a:latin typeface="Avenir Next"/>
                <a:ea typeface="Avenir Next"/>
                <a:cs typeface="Avenir Next"/>
                <a:sym typeface="Avenir Next"/>
              </a:rPr>
              <a:t>Integrate faster, launch globally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7112000" y="4953000"/>
            <a:ext cx="4191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Avenir Next"/>
                <a:ea typeface="Avenir Next"/>
                <a:cs typeface="Avenir Next"/>
                <a:sym typeface="Avenir Next"/>
              </a:rPr>
              <a:t>Launch a localized, high-converting checkout in minutes with minimal engineering effort.</a:t>
            </a:r>
            <a:endParaRPr lang="en-US" sz="11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38200" y="368300"/>
            <a:ext cx="10515600" cy="800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indent="0" algn="l">
              <a:lnSpc>
                <a:spcPct val="91666"/>
              </a:lnSpc>
              <a:defRPr/>
            </a:pPr>
            <a:r>
              <a:rPr lang="en-US" sz="4400" b="0" i="0" u="none" strike="noStrike">
                <a:solidFill>
                  <a:srgbClr val="000000"/>
                </a:solidFill>
                <a:latin typeface="Play"/>
                <a:ea typeface="Play"/>
                <a:cs typeface="Play"/>
                <a:sym typeface="Play"/>
              </a:rPr>
              <a:t>Gaming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622300" y="1397000"/>
            <a:ext cx="100076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2400" b="1" i="0" u="none" strike="noStrike">
                <a:solidFill>
                  <a:srgbClr val="10172A"/>
                </a:solidFill>
                <a:latin typeface="Avenir Next"/>
                <a:ea typeface="Avenir Next"/>
                <a:cs typeface="Avenir Next"/>
                <a:sym typeface="Avenir Next"/>
              </a:rPr>
              <a:t>Why global gaming revenue breaks at scale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1087100" y="812800"/>
            <a:ext cx="4064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r">
              <a:lnSpc>
                <a:spcPct val="100000"/>
              </a:lnSpc>
              <a:defRPr/>
            </a:pPr>
            <a:r>
              <a:rPr lang="en-US" sz="1100" b="1" i="0" u="none" strike="noStrike">
                <a:solidFill>
                  <a:srgbClr val="51607A"/>
                </a:solidFill>
                <a:latin typeface="Avenir Next"/>
                <a:ea typeface="Avenir Next"/>
                <a:cs typeface="Avenir Next"/>
                <a:sym typeface="Avenir Next"/>
              </a:rPr>
              <a:t>04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660400" y="2032000"/>
            <a:ext cx="5410200" cy="1968500"/>
          </a:xfrm>
          <a:prstGeom prst="roundRect">
            <a:avLst>
              <a:gd name="adj" fmla="val 11612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DE3EC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876300" y="2286000"/>
            <a:ext cx="254000" cy="254000"/>
          </a:xfrm>
          <a:prstGeom prst="ellipse">
            <a:avLst/>
          </a:prstGeom>
          <a:solidFill>
            <a:srgbClr val="E9E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939800" y="2336800"/>
            <a:ext cx="139700" cy="139700"/>
          </a:xfrm>
          <a:prstGeom prst="ellipse">
            <a:avLst/>
          </a:prstGeom>
          <a:solidFill>
            <a:srgbClr val="2A5C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1257300" y="2260600"/>
            <a:ext cx="4572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10172A"/>
                </a:solidFill>
                <a:latin typeface="Avenir Next"/>
                <a:ea typeface="Avenir Next"/>
                <a:cs typeface="Avenir Next"/>
                <a:sym typeface="Avenir Next"/>
              </a:rPr>
              <a:t>1. Local payment expectations vs. blockages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901700" y="2819400"/>
            <a:ext cx="49403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51607A"/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r>
              <a:rPr lang="en-US" sz="1300" b="0" i="0" u="none" strike="noStrike">
                <a:solidFill>
                  <a:srgbClr val="3C3C3C"/>
                </a:solidFill>
                <a:latin typeface="Avenir Next"/>
                <a:ea typeface="Avenir Next"/>
                <a:cs typeface="Avenir Next"/>
                <a:sym typeface="Avenir Next"/>
              </a:rPr>
              <a:t>Players drop off when local wallets are not supported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400" b="1" i="0" u="none" strike="noStrike">
                <a:solidFill>
                  <a:srgbClr val="51607A"/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r>
              <a:rPr lang="en-US" sz="1300" b="0" i="0" u="none" strike="noStrike">
                <a:solidFill>
                  <a:srgbClr val="3C3C3C"/>
                </a:solidFill>
                <a:latin typeface="Avenir Next"/>
                <a:ea typeface="Avenir Next"/>
                <a:cs typeface="Avenir Next"/>
                <a:sym typeface="Avenir Next"/>
              </a:rPr>
              <a:t>Card-only checkout underperforms outside core markets</a:t>
            </a:r>
          </a:p>
          <a:p>
            <a:pPr indent="0" algn="l">
              <a:lnSpc>
                <a:spcPct val="100000"/>
              </a:lnSpc>
            </a:pPr>
            <a:r>
              <a:rPr lang="en-US" sz="1400" b="1" i="0" u="none" strike="noStrike">
                <a:solidFill>
                  <a:srgbClr val="51607A"/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r>
              <a:rPr lang="en-US" sz="1300" b="0" i="0" u="none" strike="noStrike">
                <a:solidFill>
                  <a:srgbClr val="3C3C3C"/>
                </a:solidFill>
                <a:latin typeface="Avenir Next"/>
                <a:ea typeface="Avenir Next"/>
                <a:cs typeface="Avenir Next"/>
                <a:sym typeface="Avenir Next"/>
              </a:rPr>
              <a:t>Hesitation when familiar local payments are unavailable</a:t>
            </a:r>
          </a:p>
        </p:txBody>
      </p:sp>
      <p:sp>
        <p:nvSpPr>
          <p:cNvPr id="10" name="AutoShape 10"/>
          <p:cNvSpPr/>
          <p:nvPr/>
        </p:nvSpPr>
        <p:spPr>
          <a:xfrm>
            <a:off x="6197600" y="2032000"/>
            <a:ext cx="5410200" cy="1968500"/>
          </a:xfrm>
          <a:prstGeom prst="roundRect">
            <a:avLst>
              <a:gd name="adj" fmla="val 11612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DE3EC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6413500" y="2286000"/>
            <a:ext cx="254000" cy="254000"/>
          </a:xfrm>
          <a:prstGeom prst="ellipse">
            <a:avLst/>
          </a:prstGeom>
          <a:solidFill>
            <a:srgbClr val="FFF5E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6477000" y="2336800"/>
            <a:ext cx="139700" cy="139700"/>
          </a:xfrm>
          <a:prstGeom prst="ellipse">
            <a:avLst/>
          </a:prstGeom>
          <a:solidFill>
            <a:srgbClr val="F9A41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6794500" y="2260600"/>
            <a:ext cx="4572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10172A"/>
                </a:solidFill>
                <a:latin typeface="Avenir Next"/>
                <a:ea typeface="Avenir Next"/>
                <a:cs typeface="Avenir Next"/>
                <a:sym typeface="Avenir Next"/>
              </a:rPr>
              <a:t>2. Operational cost of global scaling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426200" y="2819400"/>
            <a:ext cx="49403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51607A"/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r>
              <a:rPr lang="en-US" sz="1300" b="0" i="0" u="none" strike="noStrike">
                <a:solidFill>
                  <a:srgbClr val="3C3C3C"/>
                </a:solidFill>
                <a:latin typeface="Avenir Next"/>
                <a:ea typeface="Avenir Next"/>
                <a:cs typeface="Avenir Next"/>
                <a:sym typeface="Avenir Next"/>
              </a:rPr>
              <a:t>Local entities are required to unlock regional payments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400" b="1" i="0" u="none" strike="noStrike">
                <a:solidFill>
                  <a:srgbClr val="51607A"/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r>
              <a:rPr lang="en-US" sz="1300" b="0" i="0" u="none" strike="noStrike">
                <a:solidFill>
                  <a:srgbClr val="3C3C3C"/>
                </a:solidFill>
                <a:latin typeface="Avenir Next"/>
                <a:ea typeface="Avenir Next"/>
                <a:cs typeface="Avenir Next"/>
                <a:sym typeface="Avenir Next"/>
              </a:rPr>
              <a:t>Fragmented integrations slow launches and operations</a:t>
            </a:r>
          </a:p>
          <a:p>
            <a:pPr indent="0" algn="l">
              <a:lnSpc>
                <a:spcPct val="100000"/>
              </a:lnSpc>
            </a:pPr>
            <a:r>
              <a:rPr lang="en-US" sz="1400" b="1" i="0" u="none" strike="noStrike">
                <a:solidFill>
                  <a:srgbClr val="51607A"/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r>
              <a:rPr lang="en-US" sz="1300" b="0" i="0" u="none" strike="noStrike">
                <a:solidFill>
                  <a:srgbClr val="3C3C3C"/>
                </a:solidFill>
                <a:latin typeface="Avenir Next"/>
                <a:ea typeface="Avenir Next"/>
                <a:cs typeface="Avenir Next"/>
                <a:sym typeface="Avenir Next"/>
              </a:rPr>
              <a:t>Low volume leads to higher processing fees</a:t>
            </a:r>
          </a:p>
        </p:txBody>
      </p:sp>
      <p:sp>
        <p:nvSpPr>
          <p:cNvPr id="15" name="AutoShape 15"/>
          <p:cNvSpPr/>
          <p:nvPr/>
        </p:nvSpPr>
        <p:spPr>
          <a:xfrm>
            <a:off x="660400" y="4191000"/>
            <a:ext cx="5410200" cy="1968500"/>
          </a:xfrm>
          <a:prstGeom prst="roundRect">
            <a:avLst>
              <a:gd name="adj" fmla="val 11612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DE3EC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876300" y="4445000"/>
            <a:ext cx="254000" cy="254000"/>
          </a:xfrm>
          <a:prstGeom prst="ellipse">
            <a:avLst/>
          </a:prstGeom>
          <a:solidFill>
            <a:srgbClr val="E5F8F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939800" y="4495800"/>
            <a:ext cx="139700" cy="139700"/>
          </a:xfrm>
          <a:prstGeom prst="ellipse">
            <a:avLst/>
          </a:prstGeom>
          <a:solidFill>
            <a:srgbClr val="12A59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1257300" y="4419600"/>
            <a:ext cx="4572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10172A"/>
                </a:solidFill>
                <a:latin typeface="Avenir Next"/>
                <a:ea typeface="Avenir Next"/>
                <a:cs typeface="Avenir Next"/>
                <a:sym typeface="Avenir Next"/>
              </a:rPr>
              <a:t>3. Increased "friendly fraud" risk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901700" y="4978400"/>
            <a:ext cx="49403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51607A"/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r>
              <a:rPr lang="en-US" sz="1300" b="0" i="0" u="none" strike="noStrike">
                <a:solidFill>
                  <a:srgbClr val="3C3C3C"/>
                </a:solidFill>
                <a:latin typeface="Avenir Next"/>
                <a:ea typeface="Avenir Next"/>
                <a:cs typeface="Avenir Next"/>
                <a:sym typeface="Avenir Next"/>
              </a:rPr>
              <a:t>High transaction volume invites abuse and disputes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400" b="1" i="0" u="none" strike="noStrike">
                <a:solidFill>
                  <a:srgbClr val="51607A"/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r>
              <a:rPr lang="en-US" sz="1300" b="0" i="0" u="none" strike="noStrike">
                <a:solidFill>
                  <a:srgbClr val="3C3C3C"/>
                </a:solidFill>
                <a:latin typeface="Avenir Next"/>
                <a:ea typeface="Avenir Next"/>
                <a:cs typeface="Avenir Next"/>
                <a:sym typeface="Avenir Next"/>
              </a:rPr>
              <a:t>Generic rules block good players or miss real threats</a:t>
            </a:r>
          </a:p>
          <a:p>
            <a:pPr indent="0" algn="l">
              <a:lnSpc>
                <a:spcPct val="100000"/>
              </a:lnSpc>
            </a:pPr>
            <a:r>
              <a:rPr lang="en-US" sz="1400" b="1" i="0" u="none" strike="noStrike">
                <a:solidFill>
                  <a:srgbClr val="51607A"/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r>
              <a:rPr lang="en-US" sz="1300" b="0" i="0" u="none" strike="noStrike">
                <a:solidFill>
                  <a:srgbClr val="3C3C3C"/>
                </a:solidFill>
                <a:latin typeface="Avenir Next"/>
                <a:ea typeface="Avenir Next"/>
                <a:cs typeface="Avenir Next"/>
                <a:sym typeface="Avenir Next"/>
              </a:rPr>
              <a:t>High chargeback rates trigger account restrictions</a:t>
            </a:r>
          </a:p>
        </p:txBody>
      </p:sp>
      <p:sp>
        <p:nvSpPr>
          <p:cNvPr id="20" name="AutoShape 20"/>
          <p:cNvSpPr/>
          <p:nvPr/>
        </p:nvSpPr>
        <p:spPr>
          <a:xfrm>
            <a:off x="6197600" y="4191000"/>
            <a:ext cx="5410200" cy="1968500"/>
          </a:xfrm>
          <a:prstGeom prst="roundRect">
            <a:avLst>
              <a:gd name="adj" fmla="val 11612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DE3EC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AutoShape 21"/>
          <p:cNvSpPr/>
          <p:nvPr/>
        </p:nvSpPr>
        <p:spPr>
          <a:xfrm>
            <a:off x="6413500" y="4445000"/>
            <a:ext cx="254000" cy="254000"/>
          </a:xfrm>
          <a:prstGeom prst="ellipse">
            <a:avLst/>
          </a:prstGeom>
          <a:solidFill>
            <a:srgbClr val="FEECF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" name="AutoShape 22"/>
          <p:cNvSpPr/>
          <p:nvPr/>
        </p:nvSpPr>
        <p:spPr>
          <a:xfrm>
            <a:off x="6477000" y="4495800"/>
            <a:ext cx="139700" cy="139700"/>
          </a:xfrm>
          <a:prstGeom prst="ellipse">
            <a:avLst/>
          </a:prstGeom>
          <a:solidFill>
            <a:srgbClr val="F472B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AutoShape 23"/>
          <p:cNvSpPr/>
          <p:nvPr/>
        </p:nvSpPr>
        <p:spPr>
          <a:xfrm>
            <a:off x="6794500" y="4419600"/>
            <a:ext cx="4572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10172A"/>
                </a:solidFill>
                <a:latin typeface="Avenir Next"/>
                <a:ea typeface="Avenir Next"/>
                <a:cs typeface="Avenir Next"/>
                <a:sym typeface="Avenir Next"/>
              </a:rPr>
              <a:t>4. Payment weaknesses under peak traffic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6426200" y="4978400"/>
            <a:ext cx="49403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51607A"/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r>
              <a:rPr lang="en-US" sz="1300" b="0" i="0" u="none" strike="noStrike">
                <a:solidFill>
                  <a:srgbClr val="3C3C3C"/>
                </a:solidFill>
                <a:latin typeface="Avenir Next"/>
                <a:ea typeface="Avenir Next"/>
                <a:cs typeface="Avenir Next"/>
                <a:sym typeface="Avenir Next"/>
              </a:rPr>
              <a:t>Payment failures spike during launches/events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400" b="1" i="0" u="none" strike="noStrike">
                <a:solidFill>
                  <a:srgbClr val="51607A"/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r>
              <a:rPr lang="en-US" sz="1300" b="0" i="0" u="none" strike="noStrike">
                <a:solidFill>
                  <a:srgbClr val="3C3C3C"/>
                </a:solidFill>
                <a:latin typeface="Avenir Next"/>
                <a:ea typeface="Avenir Next"/>
                <a:cs typeface="Avenir Next"/>
                <a:sym typeface="Avenir Next"/>
              </a:rPr>
              <a:t>Checkout instability kills conversion under load</a:t>
            </a:r>
          </a:p>
          <a:p>
            <a:pPr indent="0" algn="l">
              <a:lnSpc>
                <a:spcPct val="100000"/>
              </a:lnSpc>
            </a:pPr>
            <a:r>
              <a:rPr lang="en-US" sz="1400" b="1" i="0" u="none" strike="noStrike">
                <a:solidFill>
                  <a:srgbClr val="51607A"/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r>
              <a:rPr lang="en-US" sz="1300" b="0" i="0" u="none" strike="noStrike">
                <a:solidFill>
                  <a:srgbClr val="3C3C3C"/>
                </a:solidFill>
                <a:latin typeface="Avenir Next"/>
                <a:ea typeface="Avenir Next"/>
                <a:cs typeface="Avenir Next"/>
                <a:sym typeface="Avenir Next"/>
              </a:rPr>
              <a:t>Lack of real-time visibility into failed payments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38200" y="368300"/>
            <a:ext cx="105156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indent="0" algn="l">
              <a:lnSpc>
                <a:spcPct val="91666"/>
              </a:lnSpc>
              <a:defRPr/>
            </a:pPr>
            <a:r>
              <a:rPr lang="en-US" sz="4400" b="0" i="0" u="none" strike="noStrike">
                <a:solidFill>
                  <a:srgbClr val="000000"/>
                </a:solidFill>
                <a:latin typeface="Play"/>
                <a:ea typeface="Play"/>
                <a:cs typeface="Play"/>
                <a:sym typeface="Play"/>
              </a:rPr>
              <a:t>Gaming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660400" y="1460500"/>
            <a:ext cx="10160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2400" b="1" i="0" u="none" strike="noStrike">
                <a:solidFill>
                  <a:srgbClr val="10172A"/>
                </a:solidFill>
                <a:latin typeface="Avenir Next"/>
                <a:ea typeface="Avenir Next"/>
                <a:cs typeface="Avenir Next"/>
                <a:sym typeface="Avenir Next"/>
              </a:rPr>
              <a:t>How Waffo Helps You Win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1087100" y="825500"/>
            <a:ext cx="4064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r">
              <a:lnSpc>
                <a:spcPct val="100000"/>
              </a:lnSpc>
              <a:defRPr/>
            </a:pPr>
            <a:r>
              <a:rPr lang="en-US" sz="1100" b="1" i="0" u="none" strike="noStrike">
                <a:solidFill>
                  <a:srgbClr val="51607A"/>
                </a:solidFill>
                <a:latin typeface="Avenir Next"/>
                <a:ea typeface="Avenir Next"/>
                <a:cs typeface="Avenir Next"/>
                <a:sym typeface="Avenir Next"/>
              </a:rPr>
              <a:t>05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660400" y="2222500"/>
            <a:ext cx="5410200" cy="1968500"/>
          </a:xfrm>
          <a:prstGeom prst="roundRect">
            <a:avLst>
              <a:gd name="adj" fmla="val 11612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DE3EC">
                <a:alpha val="100000"/>
              </a:srgbClr>
            </a:solidFill>
            <a:prstDash val="solid"/>
            <a:miter lim="10000000"/>
          </a:ln>
          <a:effectLst>
            <a:outerShdw blurRad="127000" dist="50800" dir="27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901700" y="2425700"/>
            <a:ext cx="304800" cy="304800"/>
          </a:xfrm>
          <a:prstGeom prst="ellipse">
            <a:avLst/>
          </a:prstGeom>
          <a:solidFill>
            <a:srgbClr val="E9E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965200" y="2489200"/>
            <a:ext cx="165100" cy="165100"/>
          </a:xfrm>
          <a:prstGeom prst="ellipse">
            <a:avLst/>
          </a:prstGeom>
          <a:solidFill>
            <a:srgbClr val="2A5C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1320800" y="2425700"/>
            <a:ext cx="45212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10172A"/>
                </a:solidFill>
                <a:latin typeface="Avenir Next"/>
                <a:ea typeface="Avenir Next"/>
                <a:cs typeface="Avenir Next"/>
                <a:sym typeface="Avenir Next"/>
              </a:rPr>
              <a:t>1. Trusted Payment Methods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914400" y="2984500"/>
            <a:ext cx="49022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323232"/>
                </a:solidFill>
                <a:latin typeface="Avenir Next"/>
                <a:ea typeface="Avenir Next"/>
                <a:cs typeface="Avenir Next"/>
                <a:sym typeface="Avenir Next"/>
              </a:rPr>
              <a:t>Enable purchases across 162+ regions and 480+ local payment methods. Present familiar options to build trust and boost global conversion.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121400" y="2222500"/>
            <a:ext cx="5410200" cy="1968500"/>
          </a:xfrm>
          <a:prstGeom prst="roundRect">
            <a:avLst>
              <a:gd name="adj" fmla="val 11612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DE3EC">
                <a:alpha val="100000"/>
              </a:srgbClr>
            </a:solidFill>
            <a:prstDash val="solid"/>
            <a:miter lim="10000000"/>
          </a:ln>
          <a:effectLst>
            <a:outerShdw blurRad="127000" dist="50800" dir="27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6350000" y="2425700"/>
            <a:ext cx="304800" cy="304800"/>
          </a:xfrm>
          <a:prstGeom prst="ellipse">
            <a:avLst/>
          </a:prstGeom>
          <a:solidFill>
            <a:srgbClr val="FFF5E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6426200" y="2489200"/>
            <a:ext cx="165100" cy="165100"/>
          </a:xfrm>
          <a:prstGeom prst="ellipse">
            <a:avLst/>
          </a:prstGeom>
          <a:solidFill>
            <a:srgbClr val="F9A41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6781800" y="2425700"/>
            <a:ext cx="45212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10172A"/>
                </a:solidFill>
                <a:latin typeface="Avenir Next"/>
                <a:ea typeface="Avenir Next"/>
                <a:cs typeface="Avenir Next"/>
                <a:sym typeface="Avenir Next"/>
              </a:rPr>
              <a:t>2. Local Ecosystem Growth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375400" y="2984500"/>
            <a:ext cx="49022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323232"/>
                </a:solidFill>
                <a:latin typeface="Avenir Next"/>
                <a:ea typeface="Avenir Next"/>
                <a:cs typeface="Avenir Next"/>
                <a:sym typeface="Avenir Next"/>
              </a:rPr>
              <a:t>Acquire players via top local wallets. Place your game in pop-ups and banners where users already engage for precision traffic.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60400" y="4381500"/>
            <a:ext cx="5410200" cy="1968500"/>
          </a:xfrm>
          <a:prstGeom prst="roundRect">
            <a:avLst>
              <a:gd name="adj" fmla="val 11612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DE3EC">
                <a:alpha val="100000"/>
              </a:srgbClr>
            </a:solidFill>
            <a:prstDash val="solid"/>
            <a:miter lim="10000000"/>
          </a:ln>
          <a:effectLst>
            <a:outerShdw blurRad="127000" dist="50800" dir="27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901700" y="4584700"/>
            <a:ext cx="304800" cy="304800"/>
          </a:xfrm>
          <a:prstGeom prst="ellipse">
            <a:avLst/>
          </a:prstGeom>
          <a:solidFill>
            <a:srgbClr val="E5F8F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965200" y="4648200"/>
            <a:ext cx="165100" cy="165100"/>
          </a:xfrm>
          <a:prstGeom prst="ellipse">
            <a:avLst/>
          </a:prstGeom>
          <a:solidFill>
            <a:srgbClr val="12A59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1320800" y="4584700"/>
            <a:ext cx="45212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10172A"/>
                </a:solidFill>
                <a:latin typeface="Avenir Next"/>
                <a:ea typeface="Avenir Next"/>
                <a:cs typeface="Avenir Next"/>
                <a:sym typeface="Avenir Next"/>
              </a:rPr>
              <a:t>3. Robust Peak Traffic Checkout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914400" y="5143500"/>
            <a:ext cx="49022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323232"/>
                </a:solidFill>
                <a:latin typeface="Avenir Next"/>
                <a:ea typeface="Avenir Next"/>
                <a:cs typeface="Avenir Next"/>
                <a:sym typeface="Avenir Next"/>
              </a:rPr>
              <a:t>Ensure stable checkout during launches or promotions. Maintain reliability when concurrency and revenue impact are at their highest.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6121400" y="4381500"/>
            <a:ext cx="5410200" cy="1968500"/>
          </a:xfrm>
          <a:prstGeom prst="roundRect">
            <a:avLst>
              <a:gd name="adj" fmla="val 11612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DE3EC">
                <a:alpha val="100000"/>
              </a:srgbClr>
            </a:solidFill>
            <a:prstDash val="solid"/>
            <a:miter lim="10000000"/>
          </a:ln>
          <a:effectLst>
            <a:outerShdw blurRad="127000" dist="50800" dir="27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AutoShape 21"/>
          <p:cNvSpPr/>
          <p:nvPr/>
        </p:nvSpPr>
        <p:spPr>
          <a:xfrm>
            <a:off x="6350000" y="4584700"/>
            <a:ext cx="304800" cy="304800"/>
          </a:xfrm>
          <a:prstGeom prst="ellipse">
            <a:avLst/>
          </a:prstGeom>
          <a:solidFill>
            <a:srgbClr val="FEECF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" name="AutoShape 22"/>
          <p:cNvSpPr/>
          <p:nvPr/>
        </p:nvSpPr>
        <p:spPr>
          <a:xfrm>
            <a:off x="6426200" y="4648200"/>
            <a:ext cx="165100" cy="165100"/>
          </a:xfrm>
          <a:prstGeom prst="ellipse">
            <a:avLst/>
          </a:prstGeom>
          <a:solidFill>
            <a:srgbClr val="F472B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AutoShape 23"/>
          <p:cNvSpPr/>
          <p:nvPr/>
        </p:nvSpPr>
        <p:spPr>
          <a:xfrm>
            <a:off x="6781800" y="4584700"/>
            <a:ext cx="45212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10172A"/>
                </a:solidFill>
                <a:latin typeface="Avenir Next"/>
                <a:ea typeface="Avenir Next"/>
                <a:cs typeface="Avenir Next"/>
                <a:sym typeface="Avenir Next"/>
              </a:rPr>
              <a:t>4. Intelligent Revenue Protection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6375400" y="5143500"/>
            <a:ext cx="49022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323232"/>
                </a:solidFill>
                <a:latin typeface="Avenir Next"/>
                <a:ea typeface="Avenir Next"/>
                <a:cs typeface="Avenir Next"/>
                <a:sym typeface="Avenir Next"/>
              </a:rPr>
              <a:t>Apply game-aware risk controls and automated dispute handling to reduce fraud and chargebacks, ensuring legitimate players transact smoothly.</a:t>
            </a:r>
            <a:endParaRPr lang="en-US" sz="11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38200" y="368300"/>
            <a:ext cx="10515600" cy="800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indent="0" algn="l">
              <a:lnSpc>
                <a:spcPct val="91666"/>
              </a:lnSpc>
              <a:defRPr/>
            </a:pPr>
            <a:r>
              <a:rPr lang="en-US" sz="4400" b="0" i="0" u="none" strike="noStrike">
                <a:solidFill>
                  <a:srgbClr val="000000"/>
                </a:solidFill>
                <a:latin typeface="Play"/>
                <a:ea typeface="Play"/>
                <a:cs typeface="Play"/>
                <a:sym typeface="Play"/>
              </a:rPr>
              <a:t>Online Apps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647700" y="1727200"/>
            <a:ext cx="108966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2400" b="1" i="0" u="none" strike="noStrike">
                <a:solidFill>
                  <a:srgbClr val="10172A"/>
                </a:solidFill>
                <a:latin typeface="Avenir Next"/>
                <a:ea typeface="Avenir Next"/>
                <a:cs typeface="Avenir Next"/>
                <a:sym typeface="Avenir Next"/>
              </a:rPr>
              <a:t>Why online app revenue breaks at scale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660400" y="2425700"/>
            <a:ext cx="5410200" cy="1917700"/>
          </a:xfrm>
          <a:prstGeom prst="roundRect">
            <a:avLst>
              <a:gd name="adj" fmla="val 1192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DE3EC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876300" y="2641600"/>
            <a:ext cx="254000" cy="254000"/>
          </a:xfrm>
          <a:prstGeom prst="ellipse">
            <a:avLst/>
          </a:prstGeom>
          <a:solidFill>
            <a:srgbClr val="E9E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939800" y="2705100"/>
            <a:ext cx="139700" cy="139700"/>
          </a:xfrm>
          <a:prstGeom prst="ellipse">
            <a:avLst/>
          </a:prstGeom>
          <a:solidFill>
            <a:srgbClr val="2A5C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1257300" y="2603500"/>
            <a:ext cx="4572000" cy="469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10172A"/>
                </a:solidFill>
                <a:latin typeface="Avenir Next"/>
                <a:ea typeface="Avenir Next"/>
                <a:cs typeface="Avenir Next"/>
                <a:sym typeface="Avenir Next"/>
              </a:rPr>
              <a:t>1. In-app checkout flexibility is limited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901700" y="3149600"/>
            <a:ext cx="49403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Avenir Next"/>
                <a:ea typeface="Avenir Next"/>
                <a:cs typeface="Avenir Next"/>
                <a:sym typeface="Avenir Next"/>
              </a:rPr>
              <a:t>- Local payment methods cannot be added</a:t>
            </a:r>
            <a:endParaRPr lang="en-US" sz="1100"/>
          </a:p>
          <a:p>
            <a:pPr indent="0" algn="l">
              <a:lnSpc>
                <a:spcPct val="108333"/>
              </a:lnSpc>
            </a:pPr>
            <a:r>
              <a:rPr lang="en-US" sz="1400" b="0" i="0" u="none" strike="noStrike">
                <a:solidFill>
                  <a:srgbClr val="374151"/>
                </a:solidFill>
                <a:latin typeface="Avenir Next"/>
                <a:ea typeface="Avenir Next"/>
                <a:cs typeface="Avenir Next"/>
                <a:sym typeface="Avenir Next"/>
              </a:rPr>
              <a:t>- Checkout flows cannot be adjusted to product needs</a:t>
            </a:r>
          </a:p>
          <a:p>
            <a:pPr indent="0" algn="l">
              <a:lnSpc>
                <a:spcPct val="108333"/>
              </a:lnSpc>
            </a:pPr>
            <a:r>
              <a:rPr lang="en-US" sz="1400" b="0" i="0" u="none" strike="noStrike">
                <a:solidFill>
                  <a:srgbClr val="374151"/>
                </a:solidFill>
                <a:latin typeface="Avenir Next"/>
                <a:ea typeface="Avenir Next"/>
                <a:cs typeface="Avenir Next"/>
                <a:sym typeface="Avenir Next"/>
              </a:rPr>
              <a:t>- Pricing and fee structures are fixed and inflexible</a:t>
            </a:r>
          </a:p>
        </p:txBody>
      </p:sp>
      <p:sp>
        <p:nvSpPr>
          <p:cNvPr id="9" name="AutoShape 9"/>
          <p:cNvSpPr/>
          <p:nvPr/>
        </p:nvSpPr>
        <p:spPr>
          <a:xfrm>
            <a:off x="6121400" y="2425700"/>
            <a:ext cx="5410200" cy="1917700"/>
          </a:xfrm>
          <a:prstGeom prst="roundRect">
            <a:avLst>
              <a:gd name="adj" fmla="val 1192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DE3EC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6337300" y="2641600"/>
            <a:ext cx="254000" cy="254000"/>
          </a:xfrm>
          <a:prstGeom prst="ellipse">
            <a:avLst/>
          </a:prstGeom>
          <a:solidFill>
            <a:srgbClr val="FEECF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6400800" y="2705100"/>
            <a:ext cx="139700" cy="139700"/>
          </a:xfrm>
          <a:prstGeom prst="ellipse">
            <a:avLst/>
          </a:prstGeom>
          <a:solidFill>
            <a:srgbClr val="F472B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6718300" y="2603500"/>
            <a:ext cx="4572000" cy="469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10172A"/>
                </a:solidFill>
                <a:latin typeface="Avenir Next"/>
                <a:ea typeface="Avenir Next"/>
                <a:cs typeface="Avenir Next"/>
                <a:sym typeface="Avenir Next"/>
              </a:rPr>
              <a:t>2. High chargeback rates create hidden risk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350000" y="3149600"/>
            <a:ext cx="49403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Avenir Next"/>
                <a:ea typeface="Avenir Next"/>
                <a:cs typeface="Avenir Next"/>
                <a:sym typeface="Avenir Next"/>
              </a:rPr>
              <a:t>- Disputes erode revenue and margins</a:t>
            </a:r>
            <a:endParaRPr lang="en-US" sz="1100"/>
          </a:p>
          <a:p>
            <a:pPr indent="0" algn="l">
              <a:lnSpc>
                <a:spcPct val="108333"/>
              </a:lnSpc>
            </a:pPr>
            <a:r>
              <a:rPr lang="en-US" sz="1400" b="0" i="0" u="none" strike="noStrike">
                <a:solidFill>
                  <a:srgbClr val="374151"/>
                </a:solidFill>
                <a:latin typeface="Avenir Next"/>
                <a:ea typeface="Avenir Next"/>
                <a:cs typeface="Avenir Next"/>
                <a:sym typeface="Avenir Next"/>
              </a:rPr>
              <a:t>- Elevated chargebacks trigger account restrictions</a:t>
            </a:r>
          </a:p>
          <a:p>
            <a:pPr indent="0" algn="l">
              <a:lnSpc>
                <a:spcPct val="108333"/>
              </a:lnSpc>
            </a:pPr>
            <a:r>
              <a:rPr lang="en-US" sz="1400" b="0" i="0" u="none" strike="noStrike">
                <a:solidFill>
                  <a:srgbClr val="374151"/>
                </a:solidFill>
                <a:latin typeface="Avenir Next"/>
                <a:ea typeface="Avenir Next"/>
                <a:cs typeface="Avenir Next"/>
                <a:sym typeface="Avenir Next"/>
              </a:rPr>
              <a:t>- Handling chargeback evidence is cumbersome</a:t>
            </a:r>
          </a:p>
        </p:txBody>
      </p:sp>
      <p:sp>
        <p:nvSpPr>
          <p:cNvPr id="14" name="AutoShape 14"/>
          <p:cNvSpPr/>
          <p:nvPr/>
        </p:nvSpPr>
        <p:spPr>
          <a:xfrm>
            <a:off x="660400" y="4622800"/>
            <a:ext cx="5410200" cy="1917700"/>
          </a:xfrm>
          <a:prstGeom prst="roundRect">
            <a:avLst>
              <a:gd name="adj" fmla="val 1192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DE3EC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876300" y="4838700"/>
            <a:ext cx="254000" cy="254000"/>
          </a:xfrm>
          <a:prstGeom prst="ellipse">
            <a:avLst/>
          </a:prstGeom>
          <a:solidFill>
            <a:srgbClr val="E5F8F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939800" y="4902200"/>
            <a:ext cx="139700" cy="139700"/>
          </a:xfrm>
          <a:prstGeom prst="ellipse">
            <a:avLst/>
          </a:prstGeom>
          <a:solidFill>
            <a:srgbClr val="12A59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1257300" y="4800600"/>
            <a:ext cx="4572000" cy="469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10172A"/>
                </a:solidFill>
                <a:latin typeface="Avenir Next"/>
                <a:ea typeface="Avenir Next"/>
                <a:cs typeface="Avenir Next"/>
                <a:sym typeface="Avenir Next"/>
              </a:rPr>
              <a:t>3. First-time conversion is opaque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901700" y="5346700"/>
            <a:ext cx="49403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Avenir Next"/>
                <a:ea typeface="Avenir Next"/>
                <a:cs typeface="Avenir Next"/>
                <a:sym typeface="Avenir Next"/>
              </a:rPr>
              <a:t>- Checkout success rate is a black box</a:t>
            </a:r>
            <a:endParaRPr lang="en-US" sz="1100"/>
          </a:p>
          <a:p>
            <a:pPr indent="0" algn="l">
              <a:lnSpc>
                <a:spcPct val="108333"/>
              </a:lnSpc>
            </a:pPr>
            <a:r>
              <a:rPr lang="en-US" sz="1400" b="0" i="0" u="none" strike="noStrike">
                <a:solidFill>
                  <a:srgbClr val="374151"/>
                </a:solidFill>
                <a:latin typeface="Avenir Next"/>
                <a:ea typeface="Avenir Next"/>
                <a:cs typeface="Avenir Next"/>
                <a:sym typeface="Avenir Next"/>
              </a:rPr>
              <a:t>- No complete success rate analysis reports</a:t>
            </a:r>
          </a:p>
          <a:p>
            <a:pPr indent="0" algn="l">
              <a:lnSpc>
                <a:spcPct val="108333"/>
              </a:lnSpc>
            </a:pPr>
            <a:r>
              <a:rPr lang="en-US" sz="1400" b="0" i="0" u="none" strike="noStrike">
                <a:solidFill>
                  <a:srgbClr val="374151"/>
                </a:solidFill>
                <a:latin typeface="Avenir Next"/>
                <a:ea typeface="Avenir Next"/>
                <a:cs typeface="Avenir Next"/>
                <a:sym typeface="Avenir Next"/>
              </a:rPr>
              <a:t>- Teams cannot optimize what they cannot see</a:t>
            </a:r>
          </a:p>
        </p:txBody>
      </p:sp>
      <p:sp>
        <p:nvSpPr>
          <p:cNvPr id="19" name="AutoShape 19"/>
          <p:cNvSpPr/>
          <p:nvPr/>
        </p:nvSpPr>
        <p:spPr>
          <a:xfrm>
            <a:off x="6121400" y="4622800"/>
            <a:ext cx="5410200" cy="1917700"/>
          </a:xfrm>
          <a:prstGeom prst="roundRect">
            <a:avLst>
              <a:gd name="adj" fmla="val 1192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DE3EC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0"/>
          <p:cNvSpPr/>
          <p:nvPr/>
        </p:nvSpPr>
        <p:spPr>
          <a:xfrm>
            <a:off x="6337300" y="4838700"/>
            <a:ext cx="254000" cy="254000"/>
          </a:xfrm>
          <a:prstGeom prst="ellipse">
            <a:avLst/>
          </a:prstGeom>
          <a:solidFill>
            <a:srgbClr val="FFF5E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AutoShape 21"/>
          <p:cNvSpPr/>
          <p:nvPr/>
        </p:nvSpPr>
        <p:spPr>
          <a:xfrm>
            <a:off x="6400800" y="4902200"/>
            <a:ext cx="139700" cy="139700"/>
          </a:xfrm>
          <a:prstGeom prst="ellipse">
            <a:avLst/>
          </a:prstGeom>
          <a:solidFill>
            <a:srgbClr val="F9A41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" name="AutoShape 22"/>
          <p:cNvSpPr/>
          <p:nvPr/>
        </p:nvSpPr>
        <p:spPr>
          <a:xfrm>
            <a:off x="6718300" y="4800600"/>
            <a:ext cx="4572000" cy="469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10172A"/>
                </a:solidFill>
                <a:latin typeface="Avenir Next"/>
                <a:ea typeface="Avenir Next"/>
                <a:cs typeface="Avenir Next"/>
                <a:sym typeface="Avenir Next"/>
              </a:rPr>
              <a:t>4. Renewal revenue is fragile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6350000" y="5346700"/>
            <a:ext cx="49403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Avenir Next"/>
                <a:ea typeface="Avenir Next"/>
                <a:cs typeface="Avenir Next"/>
                <a:sym typeface="Avenir Next"/>
              </a:rPr>
              <a:t>- Excessive cancellation reminders disrupt UX</a:t>
            </a:r>
            <a:endParaRPr lang="en-US" sz="1100"/>
          </a:p>
          <a:p>
            <a:pPr indent="0" algn="l">
              <a:lnSpc>
                <a:spcPct val="108333"/>
              </a:lnSpc>
            </a:pPr>
            <a:r>
              <a:rPr lang="en-US" sz="1400" b="0" i="0" u="none" strike="noStrike">
                <a:solidFill>
                  <a:srgbClr val="374151"/>
                </a:solidFill>
                <a:latin typeface="Avenir Next"/>
                <a:ea typeface="Avenir Next"/>
                <a:cs typeface="Avenir Next"/>
                <a:sym typeface="Avenir Next"/>
              </a:rPr>
              <a:t>- Failed renewals silently interrupt revenue</a:t>
            </a:r>
          </a:p>
          <a:p>
            <a:pPr indent="0" algn="l">
              <a:lnSpc>
                <a:spcPct val="108333"/>
              </a:lnSpc>
            </a:pPr>
            <a:r>
              <a:rPr lang="en-US" sz="1400" b="0" i="0" u="none" strike="noStrike">
                <a:solidFill>
                  <a:srgbClr val="374151"/>
                </a:solidFill>
                <a:latin typeface="Avenir Next"/>
                <a:ea typeface="Avenir Next"/>
                <a:cs typeface="Avenir Next"/>
                <a:sym typeface="Avenir Next"/>
              </a:rPr>
              <a:t>- Expired cards and retries are poorly handled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38200" y="368300"/>
            <a:ext cx="10515600" cy="7493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indent="0" algn="l">
              <a:lnSpc>
                <a:spcPct val="91666"/>
              </a:lnSpc>
              <a:defRPr/>
            </a:pPr>
            <a:r>
              <a:rPr lang="en-US" sz="4400" b="0" i="0" u="none" strike="noStrike">
                <a:solidFill>
                  <a:srgbClr val="000000"/>
                </a:solidFill>
                <a:latin typeface="Play"/>
                <a:ea typeface="Play"/>
                <a:cs typeface="Play"/>
                <a:sym typeface="Play"/>
              </a:rPr>
              <a:t>Online Apps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660400" y="1397000"/>
            <a:ext cx="108712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2400" b="1" i="0" u="none" strike="noStrike">
                <a:solidFill>
                  <a:srgbClr val="10172A"/>
                </a:solidFill>
                <a:latin typeface="Avenir Next"/>
                <a:ea typeface="Avenir Next"/>
                <a:cs typeface="Avenir Next"/>
                <a:sym typeface="Avenir Next"/>
              </a:rPr>
              <a:t>How Waffo Helps You Win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660400" y="2095500"/>
            <a:ext cx="5410200" cy="1841500"/>
          </a:xfrm>
          <a:prstGeom prst="roundRect">
            <a:avLst>
              <a:gd name="adj" fmla="val 12413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miter lim="10000000"/>
          </a:ln>
          <a:effectLst>
            <a:outerShdw blurRad="127000" dist="50800" dir="27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914400" y="2349500"/>
            <a:ext cx="355600" cy="355600"/>
          </a:xfrm>
          <a:prstGeom prst="ellipse">
            <a:avLst/>
          </a:prstGeom>
          <a:solidFill>
            <a:srgbClr val="E9E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1003300" y="2438400"/>
            <a:ext cx="177800" cy="177800"/>
          </a:xfrm>
          <a:prstGeom prst="ellipse">
            <a:avLst/>
          </a:prstGeom>
          <a:solidFill>
            <a:srgbClr val="2A5C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1397000" y="2311400"/>
            <a:ext cx="444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10172A"/>
                </a:solidFill>
                <a:latin typeface="Avenir Next"/>
                <a:ea typeface="Avenir Next"/>
                <a:cs typeface="Avenir Next"/>
                <a:sym typeface="Avenir Next"/>
              </a:rPr>
              <a:t>1. Fully customizable checkout flows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914400" y="2857500"/>
            <a:ext cx="4699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Avenir Next"/>
                <a:ea typeface="Avenir Next"/>
                <a:cs typeface="Avenir Next"/>
                <a:sym typeface="Avenir Next"/>
              </a:rPr>
              <a:t>Easily integrate local payment methods and adjust payment processes to meet your app's unique needs.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121400" y="2095500"/>
            <a:ext cx="5410200" cy="1841500"/>
          </a:xfrm>
          <a:prstGeom prst="roundRect">
            <a:avLst>
              <a:gd name="adj" fmla="val 12413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miter lim="10000000"/>
          </a:ln>
          <a:effectLst>
            <a:outerShdw blurRad="127000" dist="50800" dir="27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6375400" y="2349500"/>
            <a:ext cx="355600" cy="355600"/>
          </a:xfrm>
          <a:prstGeom prst="ellipse">
            <a:avLst/>
          </a:prstGeom>
          <a:solidFill>
            <a:srgbClr val="E5F8F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6464300" y="2438400"/>
            <a:ext cx="177800" cy="177800"/>
          </a:xfrm>
          <a:prstGeom prst="ellipse">
            <a:avLst/>
          </a:prstGeom>
          <a:solidFill>
            <a:srgbClr val="12A59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6858000" y="2311400"/>
            <a:ext cx="444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10172A"/>
                </a:solidFill>
                <a:latin typeface="Avenir Next"/>
                <a:ea typeface="Avenir Next"/>
                <a:cs typeface="Avenir Next"/>
                <a:sym typeface="Avenir Next"/>
              </a:rPr>
              <a:t>2. Success rate optimization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375400" y="2857500"/>
            <a:ext cx="4699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Avenir Next"/>
                <a:ea typeface="Avenir Next"/>
                <a:cs typeface="Avenir Next"/>
                <a:sym typeface="Avenir Next"/>
              </a:rPr>
              <a:t>Unlock actionable insights and optimize payment performance with complete success rate analysis.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60400" y="4191000"/>
            <a:ext cx="5410200" cy="1841500"/>
          </a:xfrm>
          <a:prstGeom prst="roundRect">
            <a:avLst>
              <a:gd name="adj" fmla="val 12413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miter lim="10000000"/>
          </a:ln>
          <a:effectLst>
            <a:outerShdw blurRad="127000" dist="50800" dir="27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914400" y="4445000"/>
            <a:ext cx="355600" cy="355600"/>
          </a:xfrm>
          <a:prstGeom prst="ellipse">
            <a:avLst/>
          </a:prstGeom>
          <a:solidFill>
            <a:srgbClr val="FFF5E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1003300" y="4533900"/>
            <a:ext cx="177800" cy="177800"/>
          </a:xfrm>
          <a:prstGeom prst="ellipse">
            <a:avLst/>
          </a:prstGeom>
          <a:solidFill>
            <a:srgbClr val="F9A41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1397000" y="4406900"/>
            <a:ext cx="444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10172A"/>
                </a:solidFill>
                <a:latin typeface="Avenir Next"/>
                <a:ea typeface="Avenir Next"/>
                <a:cs typeface="Avenir Next"/>
                <a:sym typeface="Avenir Next"/>
              </a:rPr>
              <a:t>3. Protect and enhance renewals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914400" y="4953000"/>
            <a:ext cx="4699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Avenir Next"/>
                <a:ea typeface="Avenir Next"/>
                <a:cs typeface="Avenir Next"/>
                <a:sym typeface="Avenir Next"/>
              </a:rPr>
              <a:t>Automated retry logic and seamless expired card management help improve long-term retention.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6121400" y="4191000"/>
            <a:ext cx="5410200" cy="1841500"/>
          </a:xfrm>
          <a:prstGeom prst="roundRect">
            <a:avLst>
              <a:gd name="adj" fmla="val 12413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miter lim="10000000"/>
          </a:ln>
          <a:effectLst>
            <a:outerShdw blurRad="127000" dist="50800" dir="27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0"/>
          <p:cNvSpPr/>
          <p:nvPr/>
        </p:nvSpPr>
        <p:spPr>
          <a:xfrm>
            <a:off x="6375400" y="4445000"/>
            <a:ext cx="355600" cy="355600"/>
          </a:xfrm>
          <a:prstGeom prst="ellipse">
            <a:avLst/>
          </a:prstGeom>
          <a:solidFill>
            <a:srgbClr val="FEECF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AutoShape 21"/>
          <p:cNvSpPr/>
          <p:nvPr/>
        </p:nvSpPr>
        <p:spPr>
          <a:xfrm>
            <a:off x="6464300" y="4533900"/>
            <a:ext cx="177800" cy="177800"/>
          </a:xfrm>
          <a:prstGeom prst="ellipse">
            <a:avLst/>
          </a:prstGeom>
          <a:solidFill>
            <a:srgbClr val="F472B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" name="AutoShape 22"/>
          <p:cNvSpPr/>
          <p:nvPr/>
        </p:nvSpPr>
        <p:spPr>
          <a:xfrm>
            <a:off x="6858000" y="4406900"/>
            <a:ext cx="444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10172A"/>
                </a:solidFill>
                <a:latin typeface="Avenir Next"/>
                <a:ea typeface="Avenir Next"/>
                <a:cs typeface="Avenir Next"/>
                <a:sym typeface="Avenir Next"/>
              </a:rPr>
              <a:t>4. Keep chargeback rates under control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6375400" y="4953000"/>
            <a:ext cx="4699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Avenir Next"/>
                <a:ea typeface="Avenir Next"/>
                <a:cs typeface="Avenir Next"/>
                <a:sym typeface="Avenir Next"/>
              </a:rPr>
              <a:t>With fraud detection and automated dispute handling, protect revenue while reducing manual intervention.</a:t>
            </a:r>
            <a:endParaRPr lang="en-US" sz="11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38200" y="368300"/>
            <a:ext cx="10515600" cy="787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indent="0" algn="l">
              <a:lnSpc>
                <a:spcPct val="91666"/>
              </a:lnSpc>
              <a:defRPr/>
            </a:pPr>
            <a:r>
              <a:rPr lang="en-US" sz="4400" b="1" i="0" u="none" strike="noStrike">
                <a:solidFill>
                  <a:srgbClr val="000000"/>
                </a:solidFill>
                <a:latin typeface="Play"/>
                <a:ea typeface="Play"/>
                <a:cs typeface="Play"/>
                <a:sym typeface="Play"/>
              </a:rPr>
              <a:t>How is Waffo different?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016000" y="1778000"/>
            <a:ext cx="4826000" cy="4318000"/>
          </a:xfrm>
          <a:prstGeom prst="roundRect">
            <a:avLst>
              <a:gd name="adj" fmla="val 3529"/>
            </a:avLst>
          </a:prstGeom>
          <a:solidFill>
            <a:srgbClr val="14B8A6">
              <a:alpha val="9000"/>
            </a:srgbClr>
          </a:solidFill>
          <a:ln w="12700" cap="flat" cmpd="sng">
            <a:solidFill>
              <a:srgbClr val="14B8A6">
                <a:alpha val="40000"/>
              </a:srgbClr>
            </a:solidFill>
            <a:prstDash val="solid"/>
            <a:round/>
          </a:ln>
          <a:effectLst>
            <a:outerShdw blurRad="152400" dist="76200" dir="2700000" algn="tl" rotWithShape="0">
              <a:srgbClr val="14B8A6">
                <a:alpha val="1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97000" y="2095500"/>
            <a:ext cx="457200" cy="4572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2032000" y="2095500"/>
            <a:ext cx="3556000" cy="457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4B8A6"/>
                </a:solidFill>
                <a:latin typeface="Poppins"/>
                <a:ea typeface="Poppins"/>
                <a:cs typeface="Poppins"/>
                <a:sym typeface="Poppins"/>
              </a:rPr>
              <a:t>Waffo: Your Growth Partner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-10742">
            <a:off x="1397010" y="2660650"/>
            <a:ext cx="406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4B8A6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" name="Picture 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397000" y="2921000"/>
            <a:ext cx="304800" cy="3048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841500" y="2895600"/>
            <a:ext cx="368300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Poppins"/>
                <a:ea typeface="Poppins"/>
                <a:cs typeface="Poppins"/>
                <a:sym typeface="Poppins"/>
              </a:rPr>
              <a:t>MOR Service</a:t>
            </a:r>
            <a:br>
              <a:rPr lang="en-US" sz="1400" b="0" i="0" u="none" strike="noStrike">
                <a:solidFill>
                  <a:srgbClr val="1F2329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-US" sz="1200" b="0" i="0" u="none" strike="noStrike">
                <a:solidFill>
                  <a:srgbClr val="4B5563"/>
                </a:solidFill>
                <a:latin typeface="Poppins"/>
                <a:ea typeface="Poppins"/>
                <a:cs typeface="Poppins"/>
                <a:sym typeface="Poppins"/>
              </a:rPr>
              <a:t>Tax &amp; compliance handled for you</a:t>
            </a:r>
            <a:endParaRPr lang="en-US" sz="1100"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397000" y="3619500"/>
            <a:ext cx="304800" cy="3048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1841500" y="3594100"/>
            <a:ext cx="368300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Poppins"/>
                <a:ea typeface="Poppins"/>
                <a:cs typeface="Poppins"/>
                <a:sym typeface="Poppins"/>
              </a:rPr>
              <a:t>Optimization</a:t>
            </a:r>
            <a:br>
              <a:rPr lang="en-US" sz="1400" b="0" i="0" u="none" strike="noStrike">
                <a:solidFill>
                  <a:srgbClr val="1F2329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-US" sz="1200" b="0" i="0" u="none" strike="noStrike">
                <a:solidFill>
                  <a:srgbClr val="4B5563"/>
                </a:solidFill>
                <a:latin typeface="Poppins"/>
                <a:ea typeface="Poppins"/>
                <a:cs typeface="Poppins"/>
                <a:sym typeface="Poppins"/>
              </a:rPr>
              <a:t>Failure analysis + Targeted fixes</a:t>
            </a:r>
            <a:endParaRPr lang="en-US" sz="1100"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397000" y="4318000"/>
            <a:ext cx="304800" cy="3048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1841500" y="4292600"/>
            <a:ext cx="368300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Poppins"/>
                <a:ea typeface="Poppins"/>
                <a:cs typeface="Poppins"/>
                <a:sym typeface="Poppins"/>
              </a:rPr>
              <a:t>Local Support</a:t>
            </a:r>
            <a:br>
              <a:rPr lang="en-US" sz="1400" b="0" i="0" u="none" strike="noStrike">
                <a:solidFill>
                  <a:srgbClr val="1F2329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-US" sz="1200" b="0" i="0" u="none" strike="noStrike">
                <a:solidFill>
                  <a:srgbClr val="4B5563"/>
                </a:solidFill>
                <a:latin typeface="Poppins"/>
                <a:ea typeface="Poppins"/>
                <a:cs typeface="Poppins"/>
                <a:sym typeface="Poppins"/>
              </a:rPr>
              <a:t>Fast, In-language help for growth</a:t>
            </a:r>
            <a:endParaRPr lang="en-US" sz="1100"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397000" y="5016500"/>
            <a:ext cx="304800" cy="3048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1841500" y="4991100"/>
            <a:ext cx="368300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Poppins"/>
                <a:ea typeface="Poppins"/>
                <a:cs typeface="Poppins"/>
                <a:sym typeface="Poppins"/>
              </a:rPr>
              <a:t>Smart Pricing</a:t>
            </a:r>
            <a:br>
              <a:rPr lang="en-US" sz="1400" b="0" i="0" u="none" strike="noStrike">
                <a:solidFill>
                  <a:srgbClr val="1F2329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-US" sz="1200" b="0" i="0" u="none" strike="noStrike">
                <a:solidFill>
                  <a:srgbClr val="4B5563"/>
                </a:solidFill>
                <a:latin typeface="Poppins"/>
                <a:ea typeface="Poppins"/>
                <a:cs typeface="Poppins"/>
                <a:sym typeface="Poppins"/>
              </a:rPr>
              <a:t>Pay only for successful transactions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350000" y="1778000"/>
            <a:ext cx="4826000" cy="4318000"/>
          </a:xfrm>
          <a:prstGeom prst="roundRect">
            <a:avLst>
              <a:gd name="adj" fmla="val 3529"/>
            </a:avLst>
          </a:prstGeom>
          <a:solidFill>
            <a:srgbClr val="F3F4F6">
              <a:alpha val="100000"/>
            </a:srgbClr>
          </a:solidFill>
          <a:ln w="12700" cap="flat" cmpd="sng">
            <a:solidFill>
              <a:srgbClr val="D1D5DB">
                <a:alpha val="100000"/>
              </a:srgbClr>
            </a:solidFill>
            <a:prstDash val="solid"/>
            <a:round/>
          </a:ln>
          <a:effectLst>
            <a:outerShdw blurRad="152400" dist="76200" dir="27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731000" y="2095500"/>
            <a:ext cx="457200" cy="4572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7366000" y="2095500"/>
            <a:ext cx="3556000" cy="457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6B7280"/>
                </a:solidFill>
                <a:latin typeface="Poppins"/>
                <a:ea typeface="Poppins"/>
                <a:cs typeface="Poppins"/>
                <a:sym typeface="Poppins"/>
              </a:rPr>
              <a:t>Other Payment Providers</a:t>
            </a:r>
            <a:endParaRPr lang="en-US" sz="1100"/>
          </a:p>
        </p:txBody>
      </p:sp>
      <p:cxnSp>
        <p:nvCxnSpPr>
          <p:cNvPr id="18" name="Connector 18"/>
          <p:cNvCxnSpPr/>
          <p:nvPr/>
        </p:nvCxnSpPr>
        <p:spPr>
          <a:xfrm rot="-10742">
            <a:off x="6731010" y="2660650"/>
            <a:ext cx="406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1D5D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9" name="Picture 19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731000" y="2921000"/>
            <a:ext cx="304800" cy="3048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7175500" y="2895600"/>
            <a:ext cx="368300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Poppins"/>
                <a:ea typeface="Poppins"/>
                <a:cs typeface="Poppins"/>
                <a:sym typeface="Poppins"/>
              </a:rPr>
              <a:t>Self-Service</a:t>
            </a:r>
            <a:br>
              <a:rPr lang="en-US" sz="1400" b="0" i="0" u="none" strike="noStrike">
                <a:solidFill>
                  <a:srgbClr val="1F2329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-US" sz="1200" b="0" i="0" u="none" strike="noStrike">
                <a:solidFill>
                  <a:srgbClr val="4B5563"/>
                </a:solidFill>
                <a:latin typeface="Poppins"/>
                <a:ea typeface="Poppins"/>
                <a:cs typeface="Poppins"/>
                <a:sym typeface="Poppins"/>
              </a:rPr>
              <a:t>No help on tax &amp; compliance</a:t>
            </a:r>
            <a:endParaRPr lang="en-US" sz="1100"/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6731000" y="3619500"/>
            <a:ext cx="304800" cy="3048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7175500" y="3594100"/>
            <a:ext cx="368300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Poppins"/>
                <a:ea typeface="Poppins"/>
                <a:cs typeface="Poppins"/>
                <a:sym typeface="Poppins"/>
              </a:rPr>
              <a:t>Basic Reporting</a:t>
            </a:r>
            <a:br>
              <a:rPr lang="en-US" sz="1400" b="0" i="0" u="none" strike="noStrike">
                <a:solidFill>
                  <a:srgbClr val="1F2329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-US" sz="1200" b="0" i="0" u="none" strike="noStrike">
                <a:solidFill>
                  <a:srgbClr val="4B5563"/>
                </a:solidFill>
                <a:latin typeface="Poppins"/>
                <a:ea typeface="Poppins"/>
                <a:cs typeface="Poppins"/>
                <a:sym typeface="Poppins"/>
              </a:rPr>
              <a:t>No deep analysis for improvements</a:t>
            </a:r>
            <a:endParaRPr lang="en-US" sz="1100"/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6731000" y="4318000"/>
            <a:ext cx="304800" cy="304800"/>
          </a:xfrm>
          <a:prstGeom prst="rect">
            <a:avLst/>
          </a:prstGeom>
        </p:spPr>
      </p:pic>
      <p:sp>
        <p:nvSpPr>
          <p:cNvPr id="24" name="AutoShape 24"/>
          <p:cNvSpPr/>
          <p:nvPr/>
        </p:nvSpPr>
        <p:spPr>
          <a:xfrm>
            <a:off x="7175500" y="4292600"/>
            <a:ext cx="368300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Poppins"/>
                <a:ea typeface="Poppins"/>
                <a:cs typeface="Poppins"/>
                <a:sym typeface="Poppins"/>
              </a:rPr>
              <a:t>Slow Support</a:t>
            </a:r>
            <a:br>
              <a:rPr lang="en-US" sz="1400" b="0" i="0" u="none" strike="noStrike">
                <a:solidFill>
                  <a:srgbClr val="1F2329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-US" sz="1200" b="0" i="0" u="none" strike="noStrike">
                <a:solidFill>
                  <a:srgbClr val="4B5563"/>
                </a:solidFill>
                <a:latin typeface="Poppins"/>
                <a:ea typeface="Poppins"/>
                <a:cs typeface="Poppins"/>
                <a:sym typeface="Poppins"/>
              </a:rPr>
              <a:t>Delayed replies, English-only</a:t>
            </a:r>
            <a:endParaRPr lang="en-US" sz="1100"/>
          </a:p>
        </p:txBody>
      </p:sp>
      <p:pic>
        <p:nvPicPr>
          <p:cNvPr id="25" name="Picture 25"/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6731000" y="5016500"/>
            <a:ext cx="304800" cy="304800"/>
          </a:xfrm>
          <a:prstGeom prst="rect">
            <a:avLst/>
          </a:prstGeom>
        </p:spPr>
      </p:pic>
      <p:sp>
        <p:nvSpPr>
          <p:cNvPr id="26" name="AutoShape 26"/>
          <p:cNvSpPr/>
          <p:nvPr/>
        </p:nvSpPr>
        <p:spPr>
          <a:xfrm>
            <a:off x="7175500" y="4991100"/>
            <a:ext cx="368300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Poppins"/>
                <a:ea typeface="Poppins"/>
                <a:cs typeface="Poppins"/>
                <a:sym typeface="Poppins"/>
              </a:rPr>
              <a:t>Hidden Fees</a:t>
            </a:r>
            <a:br>
              <a:rPr lang="en-US" sz="1400" b="0" i="0" u="none" strike="noStrike">
                <a:solidFill>
                  <a:srgbClr val="1F2329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-US" sz="1200" b="0" i="0" u="none" strike="noStrike">
                <a:solidFill>
                  <a:srgbClr val="4B5563"/>
                </a:solidFill>
                <a:latin typeface="Poppins"/>
                <a:ea typeface="Poppins"/>
                <a:cs typeface="Poppins"/>
                <a:sym typeface="Poppins"/>
              </a:rPr>
              <a:t>Blended rates &amp; unexpected charges</a:t>
            </a:r>
            <a:endParaRPr lang="en-US" sz="1100"/>
          </a:p>
        </p:txBody>
      </p:sp>
      <p:pic>
        <p:nvPicPr>
          <p:cNvPr id="27" name="Picture 27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2567</Words>
  <Application>Microsoft Macintosh PowerPoint</Application>
  <PresentationFormat>Widescreen</PresentationFormat>
  <Paragraphs>285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18</vt:i4>
      </vt:variant>
    </vt:vector>
  </HeadingPairs>
  <TitlesOfParts>
    <vt:vector size="27" baseType="lpstr">
      <vt:lpstr>Figtree</vt:lpstr>
      <vt:lpstr>Noto Sans SC</vt:lpstr>
      <vt:lpstr>Play</vt:lpstr>
      <vt:lpstr>Aptos</vt:lpstr>
      <vt:lpstr>Arial</vt:lpstr>
      <vt:lpstr>Avenir Next</vt:lpstr>
      <vt:lpstr>Poppins</vt:lpstr>
      <vt:lpstr>Office 主题​​</vt:lpstr>
      <vt:lpstr>默认主题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鹿杰 丁</cp:lastModifiedBy>
  <cp:revision>1</cp:revision>
  <dcterms:modified xsi:type="dcterms:W3CDTF">2026-04-03T01:27:09Z</dcterms:modified>
</cp:coreProperties>
</file>